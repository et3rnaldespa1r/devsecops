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5bb03ea63e44dc" /><Relationship Type="http://schemas.openxmlformats.org/officeDocument/2006/relationships/extended-properties" Target="/docProps/app.xml" Id="R8a4569c6f314430b" /><Relationship Type="http://schemas.openxmlformats.org/officeDocument/2006/relationships/officeDocument" Target="/ppt/presentation.xml" Id="Ra314773701cf400d" /></Relationships>
</file>

<file path=ppt/presentation.xml><?xml version="1.0" encoding="utf-8"?>
<p:presentation xmlns:p="http://schemas.openxmlformats.org/presentationml/2006/main">
  <p:sldMasterIdLst>
    <p:sldMasterId xmlns:r="http://schemas.openxmlformats.org/officeDocument/2006/relationships" id="2147483648" r:id="Rbfbaab3107b04724"/>
  </p:sldMasterIdLst>
  <p:notesMasterIdLst>
    <p:notesMasterId xmlns:r="http://schemas.openxmlformats.org/officeDocument/2006/relationships" r:id="Re8f6d73e817e4c98"/>
  </p:notesMasterIdLst>
  <p:sldIdLst>
    <p:sldId xmlns:r="http://schemas.openxmlformats.org/officeDocument/2006/relationships" id="256" r:id="Rae6c8e54dce645d8"/>
    <p:sldId xmlns:r="http://schemas.openxmlformats.org/officeDocument/2006/relationships" id="257" r:id="R4bbd5c9d86684f64"/>
    <p:sldId xmlns:r="http://schemas.openxmlformats.org/officeDocument/2006/relationships" id="258" r:id="Ra21de3b45ba54edf"/>
    <p:sldId xmlns:r="http://schemas.openxmlformats.org/officeDocument/2006/relationships" id="259" r:id="Red04f6c3dab2478f"/>
    <p:sldId xmlns:r="http://schemas.openxmlformats.org/officeDocument/2006/relationships" id="260" r:id="R1666be2bd43545ee"/>
    <p:sldId xmlns:r="http://schemas.openxmlformats.org/officeDocument/2006/relationships" id="261" r:id="R2ad02197d07f4f7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68f546adb94cf8" /><Relationship Type="http://schemas.openxmlformats.org/officeDocument/2006/relationships/slideMaster" Target="/ppt/slideMasters/slideMaster1.xml" Id="Rbfbaab3107b04724" /><Relationship Type="http://schemas.openxmlformats.org/officeDocument/2006/relationships/notesMaster" Target="/ppt/notesMasters/notesMaster1.xml" Id="Re8f6d73e817e4c98" /><Relationship Type="http://schemas.openxmlformats.org/officeDocument/2006/relationships/presProps" Target="/ppt/presProps.xml" Id="Rf900d552a1d14cf7" /><Relationship Type="http://schemas.openxmlformats.org/officeDocument/2006/relationships/tableStyles" Target="/ppt/tableStyles.xml" Id="R0ae90977972f470e" /><Relationship Type="http://schemas.openxmlformats.org/officeDocument/2006/relationships/slide" Target="/ppt/slides/slide1.xml" Id="Rae6c8e54dce645d8" /><Relationship Type="http://schemas.openxmlformats.org/officeDocument/2006/relationships/slide" Target="/ppt/slides/slide2.xml" Id="R4bbd5c9d86684f64" /><Relationship Type="http://schemas.openxmlformats.org/officeDocument/2006/relationships/slide" Target="/ppt/slides/slide3.xml" Id="Ra21de3b45ba54edf" /><Relationship Type="http://schemas.openxmlformats.org/officeDocument/2006/relationships/slide" Target="/ppt/slides/slide4.xml" Id="Red04f6c3dab2478f" /><Relationship Type="http://schemas.openxmlformats.org/officeDocument/2006/relationships/slide" Target="/ppt/slides/slide5.xml" Id="R1666be2bd43545ee" /><Relationship Type="http://schemas.openxmlformats.org/officeDocument/2006/relationships/slide" Target="/ppt/slides/slide6.xml" Id="R2ad02197d07f4f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6935e0ad3e41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5fd098ead84296" /><Relationship Type="http://schemas.openxmlformats.org/officeDocument/2006/relationships/notesMaster" Target="/ppt/notesMasters/notesMaster1.xml" Id="R30467a9d118e4da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010c52131f4380" /><Relationship Type="http://schemas.openxmlformats.org/officeDocument/2006/relationships/notesMaster" Target="/ppt/notesMasters/notesMaster1.xml" Id="R14fb552f1e10456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0dd1bcbc854486" /><Relationship Type="http://schemas.openxmlformats.org/officeDocument/2006/relationships/notesMaster" Target="/ppt/notesMasters/notesMaster1.xml" Id="R89e9d1bc5ddd4c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928dc649aa449b9" /><Relationship Type="http://schemas.openxmlformats.org/officeDocument/2006/relationships/notesMaster" Target="/ppt/notesMasters/notesMaster1.xml" Id="Rfe5a87c2bba247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335fe9b7724ace" /><Relationship Type="http://schemas.openxmlformats.org/officeDocument/2006/relationships/notesMaster" Target="/ppt/notesMasters/notesMaster1.xml" Id="Rb02290c60c404d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5fef084e8b43e6" /><Relationship Type="http://schemas.openxmlformats.org/officeDocument/2006/relationships/notesMaster" Target="/ppt/notesMasters/notesMaster1.xml" Id="Raf0e1cbdab9f4e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первая часть</a:t>
            </a:r>
          </a:p>
          <a:p xmlns:a="http://schemas.openxmlformats.org/drawingml/2006/main">
            <a:r>
              <a:t/>
            </a:r>
          </a:p>
          <a:p xmlns:a="http://schemas.openxmlformats.org/drawingml/2006/main">
            <a:r>
              <a:t>«Инвентарь» учитывает вещи студенческого клуба. Сотрудник добавляет предмет, выдаёт его участнику и оформляет возврат. Участник видит каталог и свои выдачи. Важно сохранять достоверную ответственность: кому передали вещь и в каком состоянии её вернули. Это описание полного продукта. Текущая основа EK1 уже, её покажет следующий слайд.</a:t>
            </a:r>
          </a:p>
          <a:p xmlns:a="http://schemas.openxmlformats.org/drawingml/2006/main">
            <a:r>
              <a:t/>
            </a:r>
          </a:p>
          <a:p xmlns:a="http://schemas.openxmlformats.org/drawingml/2006/main">
            <a:r>
              <a:t>Источники</a:t>
            </a:r>
          </a:p>
          <a:p xmlns:a="http://schemas.openxmlformats.org/drawingml/2006/main">
            <a:r>
              <a:t>https://github.com/Et3rnalDespa1r/DevSecOps/blob/main/PROJECT.md#1-назначение</a:t>
            </a:r>
          </a:p>
          <a:p xmlns:a="http://schemas.openxmlformats.org/drawingml/2006/main">
            <a:r>
              <a:t>https://github.com/Et3rnalDespa1r/DevSecOps/blob/main/PROJECT.md#3-пользователи-и-доступные-действия</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M1, вторая часть</a:t>
            </a:r>
          </a:p>
          <a:p xmlns:a="http://schemas.openxmlformats.org/drawingml/2006/main">
            <a:r>
              <a:t/>
            </a:r>
          </a:p>
          <a:p xmlns:a="http://schemas.openxmlformats.org/drawingml/2006/main">
            <a:r>
              <a:t>К EK1 подготовили Go-сервер, локальный PostgreSQL и учебные данные. GET /healthz проверяет доступ к базе и возвращает 200 с {"status":"ok"}, при недоступности БД — 503 с {"status":"unavailable"}. По запросу покажем запуск. Вход, роли, каталог через HTTP и выдачи ещё не реализованы. Для них подготовили концепцию безопасности. Основная граница доверия — клиент и сервер. Запрос может содержать чужой ID или повтор старой операции даже на localhost. Loopback ограничивает сетевой доступ, но не проверяет полномочия. Дальше покажем, как повтор может испортить учёт.</a:t>
            </a:r>
          </a:p>
          <a:p xmlns:a="http://schemas.openxmlformats.org/drawingml/2006/main">
            <a:r>
              <a:t/>
            </a:r>
          </a:p>
          <a:p xmlns:a="http://schemas.openxmlformats.org/drawingml/2006/main">
            <a:r>
              <a:t>Источники</a:t>
            </a:r>
          </a:p>
          <a:p xmlns:a="http://schemas.openxmlformats.org/drawingml/2006/main">
            <a:r>
              <a:t>https://github.com/Et3rnalDespa1r/DevSecOps/blob/main/PROJECT.md#10-локальный-запуск</a:t>
            </a:r>
          </a:p>
          <a:p xmlns:a="http://schemas.openxmlformats.org/drawingml/2006/main">
            <a:r>
              <a:t>https://github.com/Et3rnalDespa1r/DevSecOps/blob/main/THREAT_MODEL.md#границы-доверия</a:t>
            </a:r>
          </a:p>
          <a:p xmlns:a="http://schemas.openxmlformats.org/drawingml/2006/main">
            <a:r>
              <a:t>https://github.com/Et3rnalDespa1r/DevSecOps/blob/main/cmd/inventory/main.go</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 первая часть</a:t>
            </a:r>
          </a:p>
          <a:p xmlns:a="http://schemas.openxmlformats.org/drawingml/2006/main">
            <a:r>
              <a:t/>
            </a:r>
          </a:p>
          <a:p xmlns:a="http://schemas.openxmlformats.org/drawingml/2006/main">
            <a:r>
              <a:t>Приоритетная угроза T-04 — повтор старого возврата. Предмет вернули повреждённым, потом отремонтировали и выдали другому участнику. Клиент повторяет прежний запрос, например после потери ответа. Правдоподобное решение: обновлять выдачу только пока она не завершена. Старая запись действительно защищена. Но отдельное обновление карточки может снова поставить прежнюю непригодность. Проверка только старой выдачи пройдёт, хотя актуальные данные уже испорчены. Высокий приоритет обоснован обычным повтором и искажением ответственности. Это проектный контрпример, а не найденный дефект работающего возврата.</a:t>
            </a:r>
          </a:p>
          <a:p xmlns:a="http://schemas.openxmlformats.org/drawingml/2006/main">
            <a:r>
              <a:t/>
            </a:r>
          </a:p>
          <a:p xmlns:a="http://schemas.openxmlformats.org/drawingml/2006/main">
            <a:r>
              <a:t>Источники</a:t>
            </a:r>
          </a:p>
          <a:p xmlns:a="http://schemas.openxmlformats.org/drawingml/2006/main">
            <a:r>
              <a:t>https://github.com/Et3rnalDespa1r/DevSecOps/blob/main/THREAT_MODEL.md#t-04</a:t>
            </a:r>
          </a:p>
          <a:p xmlns:a="http://schemas.openxmlformats.org/drawingml/2006/main">
            <a:r>
              <a:t>https://github.com/Et3rnalDespa1r/DevSecOps/blob/main/SECURITY_DECISIONS.md#уточнение-цепочки-по-контрпримеру</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M2, вторая часть</a:t>
            </a:r>
          </a:p>
          <a:p xmlns:a="http://schemas.openxmlformats.org/drawingml/2006/main">
            <a:r>
              <a:t/>
            </a:r>
          </a:p>
          <a:p xmlns:a="http://schemas.openxmlformats.org/drawingml/2006/main">
            <a:r>
              <a:t>Поэтому SR-05 запрещает при повторе любые изменения старой выдачи, карточки и новой выдачи. Проверять нужно все связанные записи после ремонта, новой выдачи и повтора, включая другое тело запроса. При повторе планируется 409. Поля всех трёх записей до и после должны совпасть. При первом возврате обе записи должны сохраняться атомарно, а при сбое — откатываться. Требование защищает достоверность учёта. Эти условия пока являются критериями приёмки, не результатами теста.</a:t>
            </a:r>
          </a:p>
          <a:p xmlns:a="http://schemas.openxmlformats.org/drawingml/2006/main">
            <a:r>
              <a:t/>
            </a:r>
          </a:p>
          <a:p xmlns:a="http://schemas.openxmlformats.org/drawingml/2006/main">
            <a:r>
              <a:t>Источники</a:t>
            </a:r>
          </a:p>
          <a:p xmlns:a="http://schemas.openxmlformats.org/drawingml/2006/main">
            <a:r>
              <a:t>https://github.com/Et3rnalDespa1r/DevSecOps/blob/main/SECURITY_REQUIREMENTS.md#sr-05</a:t>
            </a:r>
          </a:p>
          <a:p xmlns:a="http://schemas.openxmlformats.org/drawingml/2006/main">
            <a:r>
              <a:t>https://github.com/Et3rnalDespa1r/DevSecOps/blob/main/SECURITY_DECISIONS.md#уточнение-цепочки-по-контрпримеру</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M3, первая часть</a:t>
            </a:r>
          </a:p>
          <a:p xmlns:a="http://schemas.openxmlformats.org/drawingml/2006/main">
            <a:r>
              <a:t/>
            </a:r>
          </a:p>
          <a:p xmlns:a="http://schemas.openxmlformats.org/drawingml/2006/main">
            <a:r>
              <a:t>В D-02 выбрали транзакцию с блокировкой экземпляра, затем выдачи. Выдача и изменение пригодности используют тот же порядок. Если возврат уже завершён, отвечаем конфликтом до любых записей. Иначе вместе сохраняем возврат и карточку. Ошибка откатывает оба изменения. Альтернатива — условный SQL-переход: RETURNING разрешает обновление карточки только когда действительно завершилась выдача. Он компактнее, но сложнее читать и расширять. Выбрали явную последовательность для трёх сценариев. Общая дисциплина блокировок нужна обоим вариантам, иначе возврат не согласуется с ремонтом и выдачей. При появлении внешних уведомлений потребуется отдельное решение.</a:t>
            </a:r>
          </a:p>
          <a:p xmlns:a="http://schemas.openxmlformats.org/drawingml/2006/main">
            <a:r>
              <a:t/>
            </a:r>
          </a:p>
          <a:p xmlns:a="http://schemas.openxmlformats.org/drawingml/2006/main">
            <a:r>
              <a:t>Источники</a:t>
            </a:r>
          </a:p>
          <a:p xmlns:a="http://schemas.openxmlformats.org/drawingml/2006/main">
            <a:r>
              <a:t>https://github.com/Et3rnalDespa1r/DevSecOps/blob/main/SECURITY_DECISIONS.md#d-02</a:t>
            </a:r>
          </a:p>
          <a:p xmlns:a="http://schemas.openxmlformats.org/drawingml/2006/main">
            <a:r>
              <a:t>https://github.com/Et3rnalDespa1r/DevSecOps/blob/main/SECURITY_DECISIONS.md#сравнение-двух-способов-обеспечить-sr-05</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M3, вторая часть</a:t>
            </a:r>
          </a:p>
          <a:p xmlns:a="http://schemas.openxmlformats.org/drawingml/2006/main">
            <a:r>
              <a:t/>
            </a:r>
          </a:p>
          <a:p xmlns:a="http://schemas.openxmlformats.org/drawingml/2006/main">
            <a:r>
              <a:t>Возврата в коде ещё нет. Будущая проверка сначала готовит L1: повреждённый возврат, ремонт, новую выдачу L2. Сохраняем поля L1, L2 и карточки, повторяем L1 исходным и изменённым телом. Ожидаем 409 и неизменность всех трёх записей. Затем намеренно вызываем сбой в тестовом окружении после изменения выдачи до изменения карточки. Обе записи должны откатиться. Отдельно синхронизируем два возврата одной активной выдачи: состояние меняет только один запрос. Решение гарантирует согласованность внутри БД при общем протоколе приложения. Администратор БД доверен, внешние эффекты и резервное копирование этим решением не обеспечиваются. Эти проверки пока не выполнены.</a:t>
            </a:r>
          </a:p>
          <a:p xmlns:a="http://schemas.openxmlformats.org/drawingml/2006/main">
            <a:r>
              <a:t/>
            </a:r>
          </a:p>
          <a:p xmlns:a="http://schemas.openxmlformats.org/drawingml/2006/main">
            <a:r>
              <a:t>Источники</a:t>
            </a:r>
          </a:p>
          <a:p xmlns:a="http://schemas.openxmlformats.org/drawingml/2006/main">
            <a:r>
              <a:t>https://github.com/Et3rnalDespa1r/DevSecOps/blob/main/SECURITY_DECISIONS.md#d-02</a:t>
            </a:r>
          </a:p>
          <a:p xmlns:a="http://schemas.openxmlformats.org/drawingml/2006/main">
            <a:r>
              <a:t>https://github.com/Et3rnalDespa1r/DevSecOps/blob/main/SECURITY_REQUIREMENTS.md#sr-05</a:t>
            </a:r>
          </a:p>
          <a:p xmlns:a="http://schemas.openxmlformats.org/drawingml/2006/main">
            <a:r>
              <a:t>https://github.com/hse-rbpo-bachelor-2026/course/blob/main/assessment/EK1.md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c33c168ef04a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e675aab5e94922" /><Relationship Type="http://schemas.openxmlformats.org/officeDocument/2006/relationships/slideLayout" Target="/ppt/slideLayouts/slideLayout1.xml" Id="Rdcee1887e28846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ee1887e28846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d9cf9529444d9b" /><Relationship Type="http://schemas.openxmlformats.org/officeDocument/2006/relationships/notesSlide" Target="/ppt/notesSlides/notesSlide1.xml" Id="R4ff3686219624c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839ce0f7aa4da3" /><Relationship Type="http://schemas.openxmlformats.org/officeDocument/2006/relationships/notesSlide" Target="/ppt/notesSlides/notesSlide2.xml" Id="R2574e233f9c442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a9aa69d6a0641e0" /><Relationship Type="http://schemas.openxmlformats.org/officeDocument/2006/relationships/notesSlide" Target="/ppt/notesSlides/notesSlide3.xml" Id="R268ebad460b24a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a6129e373644d9" /><Relationship Type="http://schemas.openxmlformats.org/officeDocument/2006/relationships/notesSlide" Target="/ppt/notesSlides/notesSlide4.xml" Id="R1789ba5f22204b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fb9c60f99d4ad3" /><Relationship Type="http://schemas.openxmlformats.org/officeDocument/2006/relationships/notesSlide" Target="/ppt/notesSlides/notesSlide5.xml" Id="Rabfb6eacaf074f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5ce1eb121f643c3" /><Relationship Type="http://schemas.openxmlformats.org/officeDocument/2006/relationships/notesSlide" Target="/ppt/notesSlides/notesSlide6.xml" Id="R65b6a3fe9309433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lio">
            <a:extLst xmlns:a="http://schemas.openxmlformats.org/drawingml/2006/main">
              <a:ext uri="{FF2B5EF4-FFF2-40B4-BE49-F238E27FC236}">
                <a16:creationId xmlns:a16="http://schemas.microsoft.com/office/drawing/2014/main" id="{B72DC86B-35A7-43E5-9EB0-DD7C482C11C8}"/>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1</a:t>
            </a:r>
          </a:p>
        </p:txBody>
      </p:sp>
      <p:sp>
        <p:nvSpPr>
          <p:cNvPr id="2" name="topic">
            <a:extLst xmlns:a="http://schemas.openxmlformats.org/drawingml/2006/main">
              <a:ext uri="{FF2B5EF4-FFF2-40B4-BE49-F238E27FC236}">
                <a16:creationId xmlns:a16="http://schemas.microsoft.com/office/drawing/2014/main" id="{9C1FCEB2-2155-4439-A584-9C7A1D2BCFCE}"/>
              </a:ext>
            </a:extLst>
          </p:cNvPr>
          <p:cNvSpPr>
            <a:spLocks xmlns:a="http://schemas.openxmlformats.org/drawingml/2006/main" noGrp="1"/>
          </p:cNvSpPr>
          <p:nvPr/>
        </p:nvSpPr>
        <p:spPr>
          <a:xfrm xmlns:a="http://schemas.openxmlformats.org/drawingml/2006/main">
            <a:off x="762000" y="7810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146D73"/>
                </a:solidFill>
                <a:latin typeface="Helvetica Neue"/>
                <a:ea typeface="Helvetica Neue"/>
                <a:cs typeface="Helvetica Neue"/>
              </a:defRPr>
            </a:pPr>
            <a:r>
              <a:rPr sz="2100">
                <a:solidFill>
                  <a:srgbClr val="146D73"/>
                </a:solidFill>
                <a:latin typeface="Helvetica Neue"/>
                <a:ea typeface="Helvetica Neue"/>
                <a:cs typeface="Helvetica Neue"/>
              </a:rPr>
              <a:t>EK1. Концепция безопасности</a:t>
            </a:r>
          </a:p>
        </p:txBody>
      </p:sp>
      <p:sp>
        <p:nvSpPr>
          <p:cNvPr id="3" name="title">
            <a:extLst xmlns:a="http://schemas.openxmlformats.org/drawingml/2006/main">
              <a:ext uri="{FF2B5EF4-FFF2-40B4-BE49-F238E27FC236}">
                <a16:creationId xmlns:a16="http://schemas.microsoft.com/office/drawing/2014/main" id="{51916E25-8D4C-41EA-BE6A-4DD939C0EAEF}"/>
              </a:ext>
            </a:extLst>
          </p:cNvPr>
          <p:cNvSpPr>
            <a:spLocks xmlns:a="http://schemas.openxmlformats.org/drawingml/2006/main" noGrp="1"/>
          </p:cNvSpPr>
          <p:nvPr/>
        </p:nvSpPr>
        <p:spPr>
          <a:xfrm xmlns:a="http://schemas.openxmlformats.org/drawingml/2006/main">
            <a:off x="762000" y="17621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12263A"/>
                </a:solidFill>
                <a:latin typeface="Helvetica Neue"/>
                <a:ea typeface="Helvetica Neue"/>
                <a:cs typeface="Helvetica Neue"/>
              </a:defRPr>
            </a:pPr>
            <a:r>
              <a:rPr sz="6600" b="1">
                <a:solidFill>
                  <a:srgbClr val="12263A"/>
                </a:solidFill>
                <a:latin typeface="Helvetica Neue"/>
                <a:ea typeface="Helvetica Neue"/>
                <a:cs typeface="Helvetica Neue"/>
              </a:rPr>
              <a:t>Инвентарь</a:t>
            </a:r>
          </a:p>
        </p:txBody>
      </p:sp>
      <p:sp>
        <p:nvSpPr>
          <p:cNvPr id="4" name="purpose">
            <a:extLst xmlns:a="http://schemas.openxmlformats.org/drawingml/2006/main">
              <a:ext uri="{FF2B5EF4-FFF2-40B4-BE49-F238E27FC236}">
                <a16:creationId xmlns:a16="http://schemas.microsoft.com/office/drawing/2014/main" id="{89DB8478-D4A5-447B-A6CB-38F6084B09DA}"/>
              </a:ext>
            </a:extLst>
          </p:cNvPr>
          <p:cNvSpPr>
            <a:spLocks xmlns:a="http://schemas.openxmlformats.org/drawingml/2006/main" noGrp="1"/>
          </p:cNvSpPr>
          <p:nvPr/>
        </p:nvSpPr>
        <p:spPr>
          <a:xfrm xmlns:a="http://schemas.openxmlformats.org/drawingml/2006/main">
            <a:off x="762000" y="3076575"/>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a:solidFill>
                  <a:srgbClr val="12263A"/>
                </a:solidFill>
                <a:latin typeface="Helvetica Neue"/>
                <a:ea typeface="Helvetica Neue"/>
                <a:cs typeface="Helvetica Neue"/>
              </a:defRPr>
            </a:pPr>
            <a:r>
              <a:rPr sz="2775">
                <a:solidFill>
                  <a:srgbClr val="12263A"/>
                </a:solidFill>
                <a:latin typeface="Helvetica Neue"/>
                <a:ea typeface="Helvetica Neue"/>
                <a:cs typeface="Helvetica Neue"/>
              </a:rPr>
              <a:t>Выдача и возврат вещей</a:t>
            </a:r>
          </a:p>
          <a:p xmlns:a="http://schemas.openxmlformats.org/drawingml/2006/main">
            <a:pPr>
              <a:defRPr sz="2775">
                <a:solidFill>
                  <a:srgbClr val="12263A"/>
                </a:solidFill>
                <a:latin typeface="Helvetica Neue"/>
                <a:ea typeface="Helvetica Neue"/>
                <a:cs typeface="Helvetica Neue"/>
              </a:defRPr>
            </a:pPr>
            <a:r>
              <a:rPr sz="2775">
                <a:solidFill>
                  <a:srgbClr val="12263A"/>
                </a:solidFill>
                <a:latin typeface="Helvetica Neue"/>
                <a:ea typeface="Helvetica Neue"/>
                <a:cs typeface="Helvetica Neue"/>
              </a:rPr>
              <a:t>студенческого клуба</a:t>
            </a:r>
          </a:p>
        </p:txBody>
      </p:sp>
      <p:sp>
        <p:nvSpPr>
          <p:cNvPr id="5" name="roles">
            <a:extLst xmlns:a="http://schemas.openxmlformats.org/drawingml/2006/main">
              <a:ext uri="{FF2B5EF4-FFF2-40B4-BE49-F238E27FC236}">
                <a16:creationId xmlns:a16="http://schemas.microsoft.com/office/drawing/2014/main" id="{07A19924-C81D-427C-8361-7058C61BF3A4}"/>
              </a:ext>
            </a:extLst>
          </p:cNvPr>
          <p:cNvSpPr>
            <a:spLocks xmlns:a="http://schemas.openxmlformats.org/drawingml/2006/main" noGrp="1"/>
          </p:cNvSpPr>
          <p:nvPr/>
        </p:nvSpPr>
        <p:spPr>
          <a:xfrm xmlns:a="http://schemas.openxmlformats.org/drawingml/2006/main">
            <a:off x="762000" y="4705350"/>
            <a:ext cx="990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556575"/>
                </a:solidFill>
                <a:latin typeface="Helvetica Neue"/>
                <a:ea typeface="Helvetica Neue"/>
                <a:cs typeface="Helvetica Neue"/>
              </a:defRPr>
            </a:pPr>
            <a:r>
              <a:rPr sz="2175">
                <a:solidFill>
                  <a:srgbClr val="556575"/>
                </a:solidFill>
                <a:latin typeface="Helvetica Neue"/>
                <a:ea typeface="Helvetica Neue"/>
                <a:cs typeface="Helvetica Neue"/>
              </a:rPr>
              <a:t>Сотрудник оформляет операции.</a:t>
            </a:r>
          </a:p>
          <a:p xmlns:a="http://schemas.openxmlformats.org/drawingml/2006/main">
            <a:pPr>
              <a:defRPr sz="2175">
                <a:solidFill>
                  <a:srgbClr val="556575"/>
                </a:solidFill>
                <a:latin typeface="Helvetica Neue"/>
                <a:ea typeface="Helvetica Neue"/>
                <a:cs typeface="Helvetica Neue"/>
              </a:defRPr>
            </a:pPr>
            <a:r>
              <a:rPr sz="2175">
                <a:solidFill>
                  <a:srgbClr val="556575"/>
                </a:solidFill>
                <a:latin typeface="Helvetica Neue"/>
                <a:ea typeface="Helvetica Neue"/>
                <a:cs typeface="Helvetica Neue"/>
              </a:rPr>
              <a:t>Участник видит свои выдачи.</a:t>
            </a:r>
          </a:p>
        </p:txBody>
      </p:sp>
      <p:sp>
        <p:nvSpPr>
          <p:cNvPr id="6" name="team">
            <a:extLst xmlns:a="http://schemas.openxmlformats.org/drawingml/2006/main">
              <a:ext uri="{FF2B5EF4-FFF2-40B4-BE49-F238E27FC236}">
                <a16:creationId xmlns:a16="http://schemas.microsoft.com/office/drawing/2014/main" id="{0BB9FC68-DBF1-400A-99F7-F44892706E8E}"/>
              </a:ext>
            </a:extLst>
          </p:cNvPr>
          <p:cNvSpPr>
            <a:spLocks xmlns:a="http://schemas.openxmlformats.org/drawingml/2006/main" noGrp="1"/>
          </p:cNvSpPr>
          <p:nvPr/>
        </p:nvSpPr>
        <p:spPr>
          <a:xfrm xmlns:a="http://schemas.openxmlformats.org/drawingml/2006/main">
            <a:off x="762000" y="6162675"/>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56575"/>
                </a:solidFill>
                <a:latin typeface="Helvetica Neue"/>
                <a:ea typeface="Helvetica Neue"/>
                <a:cs typeface="Helvetica Neue"/>
              </a:defRPr>
            </a:pPr>
            <a:r>
              <a:rPr sz="1650">
                <a:solidFill>
                  <a:srgbClr val="556575"/>
                </a:solidFill>
                <a:latin typeface="Helvetica Neue"/>
                <a:ea typeface="Helvetica Neue"/>
                <a:cs typeface="Helvetica Neue"/>
              </a:rPr>
              <a:t>Команда «Чайханчики»</a:t>
            </a:r>
          </a:p>
        </p:txBody>
      </p:sp>
    </p:spTree>
    <p:extLst>
      <p:ext uri="{BB962C8B-B14F-4D97-AF65-F5344CB8AC3E}">
        <p14:creationId xmlns:p14="http://schemas.microsoft.com/office/powerpoint/2010/main" val="4902482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F7CC6807-0972-4344-A304-DED78DC7D7B2}"/>
              </a:ext>
            </a:extLst>
          </p:cNvPr>
          <p:cNvSpPr>
            <a:spLocks xmlns:a="http://schemas.openxmlformats.org/drawingml/2006/main" noGrp="1"/>
          </p:cNvSpPr>
          <p:nvPr/>
        </p:nvSpPr>
        <p:spPr>
          <a:xfrm xmlns:a="http://schemas.openxmlformats.org/drawingml/2006/main">
            <a:off x="762000" y="6286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263A"/>
                </a:solidFill>
                <a:latin typeface="Helvetica Neue"/>
                <a:ea typeface="Helvetica Neue"/>
                <a:cs typeface="Helvetica Neue"/>
              </a:defRPr>
            </a:pPr>
            <a:r>
              <a:rPr sz="3600" b="1">
                <a:solidFill>
                  <a:srgbClr val="12263A"/>
                </a:solidFill>
                <a:latin typeface="Helvetica Neue"/>
                <a:ea typeface="Helvetica Neue"/>
                <a:cs typeface="Helvetica Neue"/>
              </a:rPr>
              <a:t>Текущая основа и граница доверия</a:t>
            </a:r>
          </a:p>
        </p:txBody>
      </p:sp>
      <p:sp>
        <p:nvSpPr>
          <p:cNvPr id="2" name="folio">
            <a:extLst xmlns:a="http://schemas.openxmlformats.org/drawingml/2006/main">
              <a:ext uri="{FF2B5EF4-FFF2-40B4-BE49-F238E27FC236}">
                <a16:creationId xmlns:a16="http://schemas.microsoft.com/office/drawing/2014/main" id="{18793A98-39C8-493B-BE33-3136584D8506}"/>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2</a:t>
            </a:r>
          </a:p>
        </p:txBody>
      </p:sp>
      <p:sp>
        <p:nvSpPr>
          <p:cNvPr id="3" name="client">
            <a:extLst xmlns:a="http://schemas.openxmlformats.org/drawingml/2006/main">
              <a:ext uri="{FF2B5EF4-FFF2-40B4-BE49-F238E27FC236}">
                <a16:creationId xmlns:a16="http://schemas.microsoft.com/office/drawing/2014/main" id="{8D75CA35-C5A6-4D34-BB95-59A5041EB1BF}"/>
              </a:ext>
            </a:extLst>
          </p:cNvPr>
          <p:cNvSpPr>
            <a:spLocks xmlns:a="http://schemas.openxmlformats.org/drawingml/2006/main" noGrp="1"/>
          </p:cNvSpPr>
          <p:nvPr/>
        </p:nvSpPr>
        <p:spPr>
          <a:xfrm xmlns:a="http://schemas.openxmlformats.org/drawingml/2006/main">
            <a:off x="762000" y="2076450"/>
            <a:ext cx="2609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12263A"/>
                </a:solidFill>
                <a:latin typeface="Helvetica Neue"/>
                <a:ea typeface="Helvetica Neue"/>
                <a:cs typeface="Helvetica Neue"/>
              </a:defRPr>
            </a:pPr>
            <a:r>
              <a:rPr sz="2475" b="1">
                <a:solidFill>
                  <a:srgbClr val="12263A"/>
                </a:solidFill>
                <a:latin typeface="Helvetica Neue"/>
                <a:ea typeface="Helvetica Neue"/>
                <a:cs typeface="Helvetica Neue"/>
              </a:rPr>
              <a:t>HTTP-клиент</a:t>
            </a:r>
          </a:p>
        </p:txBody>
      </p:sp>
      <p:sp>
        <p:nvSpPr>
          <p:cNvPr id="4" name="server">
            <a:extLst xmlns:a="http://schemas.openxmlformats.org/drawingml/2006/main">
              <a:ext uri="{FF2B5EF4-FFF2-40B4-BE49-F238E27FC236}">
                <a16:creationId xmlns:a16="http://schemas.microsoft.com/office/drawing/2014/main" id="{F2A2992C-A84F-4598-9B4F-8D4FCF7F3A69}"/>
              </a:ext>
            </a:extLst>
          </p:cNvPr>
          <p:cNvSpPr>
            <a:spLocks xmlns:a="http://schemas.openxmlformats.org/drawingml/2006/main" noGrp="1"/>
          </p:cNvSpPr>
          <p:nvPr/>
        </p:nvSpPr>
        <p:spPr>
          <a:xfrm xmlns:a="http://schemas.openxmlformats.org/drawingml/2006/main">
            <a:off x="4791075" y="2076450"/>
            <a:ext cx="2609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12263A"/>
                </a:solidFill>
                <a:latin typeface="Helvetica Neue"/>
                <a:ea typeface="Helvetica Neue"/>
                <a:cs typeface="Helvetica Neue"/>
              </a:defRPr>
            </a:pPr>
            <a:r>
              <a:rPr sz="2475" b="1">
                <a:solidFill>
                  <a:srgbClr val="12263A"/>
                </a:solidFill>
                <a:latin typeface="Helvetica Neue"/>
                <a:ea typeface="Helvetica Neue"/>
                <a:cs typeface="Helvetica Neue"/>
              </a:rPr>
              <a:t>Go-сервер</a:t>
            </a:r>
          </a:p>
        </p:txBody>
      </p:sp>
      <p:sp>
        <p:nvSpPr>
          <p:cNvPr id="5" name="database">
            <a:extLst xmlns:a="http://schemas.openxmlformats.org/drawingml/2006/main">
              <a:ext uri="{FF2B5EF4-FFF2-40B4-BE49-F238E27FC236}">
                <a16:creationId xmlns:a16="http://schemas.microsoft.com/office/drawing/2014/main" id="{C378BF58-5DDC-4B7B-AD78-09E7BF4F6FD4}"/>
              </a:ext>
            </a:extLst>
          </p:cNvPr>
          <p:cNvSpPr>
            <a:spLocks xmlns:a="http://schemas.openxmlformats.org/drawingml/2006/main" noGrp="1"/>
          </p:cNvSpPr>
          <p:nvPr/>
        </p:nvSpPr>
        <p:spPr>
          <a:xfrm xmlns:a="http://schemas.openxmlformats.org/drawingml/2006/main">
            <a:off x="8820150" y="2076450"/>
            <a:ext cx="2609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75" b="1">
                <a:solidFill>
                  <a:srgbClr val="12263A"/>
                </a:solidFill>
                <a:latin typeface="Helvetica Neue"/>
                <a:ea typeface="Helvetica Neue"/>
                <a:cs typeface="Helvetica Neue"/>
              </a:defRPr>
            </a:pPr>
            <a:r>
              <a:rPr sz="2475" b="1">
                <a:solidFill>
                  <a:srgbClr val="12263A"/>
                </a:solidFill>
                <a:latin typeface="Helvetica Neue"/>
                <a:ea typeface="Helvetica Neue"/>
                <a:cs typeface="Helvetica Neue"/>
              </a:rPr>
              <a:t>PostgreSQL</a:t>
            </a:r>
          </a:p>
        </p:txBody>
      </p:sp>
      <p:cxnSp>
        <p:nvCxnSpPr>
          <p:cNvPr id="21" name=""/>
          <p:cNvCxnSpPr>
            <a:stCxn xmlns:a="http://schemas.openxmlformats.org/drawingml/2006/main" id="3" idx="3"/>
            <a:endCxn xmlns:a="http://schemas.openxmlformats.org/drawingml/2006/main" id="4" idx="1"/>
          </p:cNvCxnSpPr>
          <p:nvPr/>
        </p:nvCxnSpPr>
        <p:spPr>
          <a:xfrm xmlns:a="http://schemas.openxmlformats.org/drawingml/2006/main">
            <a:off x="3371850" y="2333625"/>
            <a:ext cx="1419225" cy="0"/>
          </a:xfrm>
          <a:prstGeom xmlns:a="http://schemas.openxmlformats.org/drawingml/2006/main" prst="straightConnector1">
            <a:avLst/>
          </a:prstGeom>
          <a:ln xmlns:a="http://schemas.openxmlformats.org/drawingml/2006/main" w="19050">
            <a:solidFill>
              <a:srgbClr val="146D73"/>
            </a:solidFill>
            <a:tailEnd type="triangle" w="sm" len="sm"/>
          </a:ln>
        </p:spPr>
      </p:cxnSp>
      <p:cxnSp>
        <p:nvCxnSpPr>
          <p:cNvPr id="22" name=""/>
          <p:cNvCxnSpPr>
            <a:stCxn xmlns:a="http://schemas.openxmlformats.org/drawingml/2006/main" id="4" idx="3"/>
            <a:endCxn xmlns:a="http://schemas.openxmlformats.org/drawingml/2006/main" id="5" idx="1"/>
          </p:cNvCxnSpPr>
          <p:nvPr/>
        </p:nvCxnSpPr>
        <p:spPr>
          <a:xfrm xmlns:a="http://schemas.openxmlformats.org/drawingml/2006/main">
            <a:off x="7400925" y="2333625"/>
            <a:ext cx="1419225" cy="0"/>
          </a:xfrm>
          <a:prstGeom xmlns:a="http://schemas.openxmlformats.org/drawingml/2006/main" prst="straightConnector1">
            <a:avLst/>
          </a:prstGeom>
          <a:ln xmlns:a="http://schemas.openxmlformats.org/drawingml/2006/main" w="19050">
            <a:solidFill>
              <a:srgbClr val="146D73"/>
            </a:solidFill>
            <a:tailEnd type="triangle" w="sm" len="sm"/>
          </a:ln>
        </p:spPr>
      </p:cxnSp>
      <p:sp>
        <p:nvSpPr>
          <p:cNvPr id="8" name="client-trust">
            <a:extLst xmlns:a="http://schemas.openxmlformats.org/drawingml/2006/main">
              <a:ext uri="{FF2B5EF4-FFF2-40B4-BE49-F238E27FC236}">
                <a16:creationId xmlns:a16="http://schemas.microsoft.com/office/drawing/2014/main" id="{C3FC058E-12FC-483F-85D4-6B2FA06D0A16}"/>
              </a:ext>
            </a:extLst>
          </p:cNvPr>
          <p:cNvSpPr>
            <a:spLocks xmlns:a="http://schemas.openxmlformats.org/drawingml/2006/main" noGrp="1"/>
          </p:cNvSpPr>
          <p:nvPr/>
        </p:nvSpPr>
        <p:spPr>
          <a:xfrm xmlns:a="http://schemas.openxmlformats.org/drawingml/2006/main">
            <a:off x="762000" y="2714625"/>
            <a:ext cx="2609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a:solidFill>
                  <a:srgbClr val="556575"/>
                </a:solidFill>
                <a:latin typeface="Helvetica Neue"/>
                <a:ea typeface="Helvetica Neue"/>
                <a:cs typeface="Helvetica Neue"/>
              </a:defRPr>
            </a:pPr>
            <a:r>
              <a:rPr sz="1725">
                <a:solidFill>
                  <a:srgbClr val="556575"/>
                </a:solidFill>
                <a:latin typeface="Helvetica Neue"/>
                <a:ea typeface="Helvetica Neue"/>
                <a:cs typeface="Helvetica Neue"/>
              </a:rPr>
              <a:t>Недоверенный запрос</a:t>
            </a:r>
          </a:p>
        </p:txBody>
      </p:sp>
      <p:sp>
        <p:nvSpPr>
          <p:cNvPr id="9" name="server-local">
            <a:extLst xmlns:a="http://schemas.openxmlformats.org/drawingml/2006/main">
              <a:ext uri="{FF2B5EF4-FFF2-40B4-BE49-F238E27FC236}">
                <a16:creationId xmlns:a16="http://schemas.microsoft.com/office/drawing/2014/main" id="{8C36C8EE-2CFE-4CBA-BBED-1E21DC25E3E6}"/>
              </a:ext>
            </a:extLst>
          </p:cNvPr>
          <p:cNvSpPr>
            <a:spLocks xmlns:a="http://schemas.openxmlformats.org/drawingml/2006/main" noGrp="1"/>
          </p:cNvSpPr>
          <p:nvPr/>
        </p:nvSpPr>
        <p:spPr>
          <a:xfrm xmlns:a="http://schemas.openxmlformats.org/drawingml/2006/main">
            <a:off x="4791075" y="27146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a:solidFill>
                  <a:srgbClr val="556575"/>
                </a:solidFill>
                <a:latin typeface="Helvetica Neue"/>
                <a:ea typeface="Helvetica Neue"/>
                <a:cs typeface="Helvetica Neue"/>
              </a:defRPr>
            </a:pPr>
            <a:r>
              <a:rPr sz="1725">
                <a:solidFill>
                  <a:srgbClr val="556575"/>
                </a:solidFill>
                <a:latin typeface="Helvetica Neue"/>
                <a:ea typeface="Helvetica Neue"/>
                <a:cs typeface="Helvetica Neue"/>
              </a:rPr>
              <a:t>127.0.0.1</a:t>
            </a:r>
          </a:p>
        </p:txBody>
      </p:sp>
      <p:sp>
        <p:nvSpPr>
          <p:cNvPr id="10" name="database-local">
            <a:extLst xmlns:a="http://schemas.openxmlformats.org/drawingml/2006/main">
              <a:ext uri="{FF2B5EF4-FFF2-40B4-BE49-F238E27FC236}">
                <a16:creationId xmlns:a16="http://schemas.microsoft.com/office/drawing/2014/main" id="{255464E1-8698-45F2-88FC-27E0E0CB2BF1}"/>
              </a:ext>
            </a:extLst>
          </p:cNvPr>
          <p:cNvSpPr>
            <a:spLocks xmlns:a="http://schemas.openxmlformats.org/drawingml/2006/main" noGrp="1"/>
          </p:cNvSpPr>
          <p:nvPr/>
        </p:nvSpPr>
        <p:spPr>
          <a:xfrm xmlns:a="http://schemas.openxmlformats.org/drawingml/2006/main">
            <a:off x="8820150" y="2714625"/>
            <a:ext cx="2609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a:solidFill>
                  <a:srgbClr val="556575"/>
                </a:solidFill>
                <a:latin typeface="Helvetica Neue"/>
                <a:ea typeface="Helvetica Neue"/>
                <a:cs typeface="Helvetica Neue"/>
              </a:defRPr>
            </a:pPr>
            <a:r>
              <a:rPr sz="1725">
                <a:solidFill>
                  <a:srgbClr val="556575"/>
                </a:solidFill>
                <a:latin typeface="Helvetica Neue"/>
                <a:ea typeface="Helvetica Neue"/>
                <a:cs typeface="Helvetica Neue"/>
              </a:rPr>
              <a:t>Локальная база</a:t>
            </a:r>
          </a:p>
        </p:txBody>
      </p:sp>
      <p:sp>
        <p:nvSpPr>
          <p:cNvPr id="11" name="current-label">
            <a:extLst xmlns:a="http://schemas.openxmlformats.org/drawingml/2006/main">
              <a:ext uri="{FF2B5EF4-FFF2-40B4-BE49-F238E27FC236}">
                <a16:creationId xmlns:a16="http://schemas.microsoft.com/office/drawing/2014/main" id="{36710563-C338-4BDB-A282-07B056674F67}"/>
              </a:ext>
            </a:extLst>
          </p:cNvPr>
          <p:cNvSpPr>
            <a:spLocks xmlns:a="http://schemas.openxmlformats.org/drawingml/2006/main" noGrp="1"/>
          </p:cNvSpPr>
          <p:nvPr/>
        </p:nvSpPr>
        <p:spPr>
          <a:xfrm xmlns:a="http://schemas.openxmlformats.org/drawingml/2006/main">
            <a:off x="762000" y="363855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46D73"/>
                </a:solidFill>
                <a:latin typeface="Helvetica Neue"/>
                <a:ea typeface="Helvetica Neue"/>
                <a:cs typeface="Helvetica Neue"/>
              </a:defRPr>
            </a:pPr>
            <a:r>
              <a:rPr sz="2100" b="1">
                <a:solidFill>
                  <a:srgbClr val="146D73"/>
                </a:solidFill>
                <a:latin typeface="Helvetica Neue"/>
                <a:ea typeface="Helvetica Neue"/>
                <a:cs typeface="Helvetica Neue"/>
              </a:rPr>
              <a:t>Работает</a:t>
            </a:r>
          </a:p>
        </p:txBody>
      </p:sp>
      <p:sp>
        <p:nvSpPr>
          <p:cNvPr id="12" name="current-state">
            <a:extLst xmlns:a="http://schemas.openxmlformats.org/drawingml/2006/main">
              <a:ext uri="{FF2B5EF4-FFF2-40B4-BE49-F238E27FC236}">
                <a16:creationId xmlns:a16="http://schemas.microsoft.com/office/drawing/2014/main" id="{8AEBD735-22D2-4124-9B47-3BB894439156}"/>
              </a:ext>
            </a:extLst>
          </p:cNvPr>
          <p:cNvSpPr>
            <a:spLocks xmlns:a="http://schemas.openxmlformats.org/drawingml/2006/main" noGrp="1"/>
          </p:cNvSpPr>
          <p:nvPr/>
        </p:nvSpPr>
        <p:spPr>
          <a:xfrm xmlns:a="http://schemas.openxmlformats.org/drawingml/2006/main">
            <a:off x="762000" y="4200525"/>
            <a:ext cx="5524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Go-сервер и учебные данные.</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GET /healthz проверяет БД.</a:t>
            </a:r>
          </a:p>
        </p:txBody>
      </p:sp>
      <p:sp>
        <p:nvSpPr>
          <p:cNvPr id="13" name="planned-label">
            <a:extLst xmlns:a="http://schemas.openxmlformats.org/drawingml/2006/main">
              <a:ext uri="{FF2B5EF4-FFF2-40B4-BE49-F238E27FC236}">
                <a16:creationId xmlns:a16="http://schemas.microsoft.com/office/drawing/2014/main" id="{02F8E9D2-D7D0-411E-8D23-C3889151DDF8}"/>
              </a:ext>
            </a:extLst>
          </p:cNvPr>
          <p:cNvSpPr>
            <a:spLocks xmlns:a="http://schemas.openxmlformats.org/drawingml/2006/main" noGrp="1"/>
          </p:cNvSpPr>
          <p:nvPr/>
        </p:nvSpPr>
        <p:spPr>
          <a:xfrm xmlns:a="http://schemas.openxmlformats.org/drawingml/2006/main">
            <a:off x="6953250" y="3638550"/>
            <a:ext cx="447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46D73"/>
                </a:solidFill>
                <a:latin typeface="Helvetica Neue"/>
                <a:ea typeface="Helvetica Neue"/>
                <a:cs typeface="Helvetica Neue"/>
              </a:defRPr>
            </a:pPr>
            <a:r>
              <a:rPr sz="2100" b="1">
                <a:solidFill>
                  <a:srgbClr val="146D73"/>
                </a:solidFill>
                <a:latin typeface="Helvetica Neue"/>
                <a:ea typeface="Helvetica Neue"/>
                <a:cs typeface="Helvetica Neue"/>
              </a:rPr>
              <a:t>Следующий этап</a:t>
            </a:r>
          </a:p>
        </p:txBody>
      </p:sp>
      <p:sp>
        <p:nvSpPr>
          <p:cNvPr id="14" name="planned-state">
            <a:extLst xmlns:a="http://schemas.openxmlformats.org/drawingml/2006/main">
              <a:ext uri="{FF2B5EF4-FFF2-40B4-BE49-F238E27FC236}">
                <a16:creationId xmlns:a16="http://schemas.microsoft.com/office/drawing/2014/main" id="{DFDEA70D-CA67-4D0B-96C3-11084FECBF73}"/>
              </a:ext>
            </a:extLst>
          </p:cNvPr>
          <p:cNvSpPr>
            <a:spLocks xmlns:a="http://schemas.openxmlformats.org/drawingml/2006/main" noGrp="1"/>
          </p:cNvSpPr>
          <p:nvPr/>
        </p:nvSpPr>
        <p:spPr>
          <a:xfrm xmlns:a="http://schemas.openxmlformats.org/drawingml/2006/main">
            <a:off x="6953250" y="420052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Вход, каталог и выдачи.</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Пока проектные решения.</a:t>
            </a:r>
          </a:p>
        </p:txBody>
      </p:sp>
      <p:sp>
        <p:nvSpPr>
          <p:cNvPr id="15" name="trust-point">
            <a:extLst xmlns:a="http://schemas.openxmlformats.org/drawingml/2006/main">
              <a:ext uri="{FF2B5EF4-FFF2-40B4-BE49-F238E27FC236}">
                <a16:creationId xmlns:a16="http://schemas.microsoft.com/office/drawing/2014/main" id="{0D89DCDB-5F13-4B69-BCCE-A27DA952A9DE}"/>
              </a:ext>
            </a:extLst>
          </p:cNvPr>
          <p:cNvSpPr>
            <a:spLocks xmlns:a="http://schemas.openxmlformats.org/drawingml/2006/main" noGrp="1"/>
          </p:cNvSpPr>
          <p:nvPr/>
        </p:nvSpPr>
        <p:spPr>
          <a:xfrm xmlns:a="http://schemas.openxmlformats.org/drawingml/2006/main">
            <a:off x="762000" y="5724525"/>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2263A"/>
                </a:solidFill>
                <a:latin typeface="Helvetica Neue"/>
                <a:ea typeface="Helvetica Neue"/>
                <a:cs typeface="Helvetica Neue"/>
              </a:defRPr>
            </a:pPr>
            <a:r>
              <a:rPr sz="2250" b="1">
                <a:solidFill>
                  <a:srgbClr val="12263A"/>
                </a:solidFill>
                <a:latin typeface="Helvetica Neue"/>
                <a:ea typeface="Helvetica Neue"/>
                <a:cs typeface="Helvetica Neue"/>
              </a:rPr>
              <a:t>Localhost не заменяет проверку прав</a:t>
            </a:r>
          </a:p>
        </p:txBody>
      </p:sp>
    </p:spTree>
    <p:extLst>
      <p:ext uri="{BB962C8B-B14F-4D97-AF65-F5344CB8AC3E}">
        <p14:creationId xmlns:p14="http://schemas.microsoft.com/office/powerpoint/2010/main" val="3823595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ACEED7D4-61FD-464F-ADD2-F3B590882525}"/>
              </a:ext>
            </a:extLst>
          </p:cNvPr>
          <p:cNvSpPr>
            <a:spLocks xmlns:a="http://schemas.openxmlformats.org/drawingml/2006/main" noGrp="1"/>
          </p:cNvSpPr>
          <p:nvPr/>
        </p:nvSpPr>
        <p:spPr>
          <a:xfrm xmlns:a="http://schemas.openxmlformats.org/drawingml/2006/main">
            <a:off x="762000" y="6286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263A"/>
                </a:solidFill>
                <a:latin typeface="Helvetica Neue"/>
                <a:ea typeface="Helvetica Neue"/>
                <a:cs typeface="Helvetica Neue"/>
              </a:defRPr>
            </a:pPr>
            <a:r>
              <a:rPr sz="3600" b="1">
                <a:solidFill>
                  <a:srgbClr val="12263A"/>
                </a:solidFill>
                <a:latin typeface="Helvetica Neue"/>
                <a:ea typeface="Helvetica Neue"/>
                <a:cs typeface="Helvetica Neue"/>
              </a:rPr>
              <a:t>T-04. Повтор старого возврата</a:t>
            </a:r>
          </a:p>
        </p:txBody>
      </p:sp>
      <p:sp>
        <p:nvSpPr>
          <p:cNvPr id="2" name="folio">
            <a:extLst xmlns:a="http://schemas.openxmlformats.org/drawingml/2006/main">
              <a:ext uri="{FF2B5EF4-FFF2-40B4-BE49-F238E27FC236}">
                <a16:creationId xmlns:a16="http://schemas.microsoft.com/office/drawing/2014/main" id="{00D25F8C-1EB6-4B3A-98A0-50FDC110EA04}"/>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3</a:t>
            </a:r>
          </a:p>
        </p:txBody>
      </p:sp>
      <p:sp>
        <p:nvSpPr>
          <p:cNvPr id="3" name="scenario-status">
            <a:extLst xmlns:a="http://schemas.openxmlformats.org/drawingml/2006/main">
              <a:ext uri="{FF2B5EF4-FFF2-40B4-BE49-F238E27FC236}">
                <a16:creationId xmlns:a16="http://schemas.microsoft.com/office/drawing/2014/main" id="{6DBEB5DA-16FD-4D9F-8E45-DB2C99C4154E}"/>
              </a:ext>
            </a:extLst>
          </p:cNvPr>
          <p:cNvSpPr>
            <a:spLocks xmlns:a="http://schemas.openxmlformats.org/drawingml/2006/main" noGrp="1"/>
          </p:cNvSpPr>
          <p:nvPr/>
        </p:nvSpPr>
        <p:spPr>
          <a:xfrm xmlns:a="http://schemas.openxmlformats.org/drawingml/2006/main">
            <a:off x="762000" y="16478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556575"/>
                </a:solidFill>
                <a:latin typeface="Helvetica Neue"/>
                <a:ea typeface="Helvetica Neue"/>
                <a:cs typeface="Helvetica Neue"/>
              </a:defRPr>
            </a:pPr>
            <a:r>
              <a:rPr sz="1800">
                <a:solidFill>
                  <a:srgbClr val="556575"/>
                </a:solidFill>
                <a:latin typeface="Helvetica Neue"/>
                <a:ea typeface="Helvetica Neue"/>
                <a:cs typeface="Helvetica Neue"/>
              </a:rPr>
              <a:t>Контрпример проектного варианта</a:t>
            </a:r>
          </a:p>
        </p:txBody>
      </p:sp>
      <p:sp>
        <p:nvSpPr>
          <p:cNvPr id="4" name="step-1">
            <a:extLst xmlns:a="http://schemas.openxmlformats.org/drawingml/2006/main">
              <a:ext uri="{FF2B5EF4-FFF2-40B4-BE49-F238E27FC236}">
                <a16:creationId xmlns:a16="http://schemas.microsoft.com/office/drawing/2014/main" id="{F2B92814-268F-4FC4-86FD-EE90E9C1DC16}"/>
              </a:ext>
            </a:extLst>
          </p:cNvPr>
          <p:cNvSpPr>
            <a:spLocks xmlns:a="http://schemas.openxmlformats.org/drawingml/2006/main" noGrp="1"/>
          </p:cNvSpPr>
          <p:nvPr/>
        </p:nvSpPr>
        <p:spPr>
          <a:xfrm xmlns:a="http://schemas.openxmlformats.org/drawingml/2006/main">
            <a:off x="762000" y="2028825"/>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6D73"/>
                </a:solidFill>
                <a:latin typeface="Helvetica Neue"/>
                <a:ea typeface="Helvetica Neue"/>
                <a:cs typeface="Helvetica Neue"/>
              </a:defRPr>
            </a:pPr>
            <a:r>
              <a:rPr sz="2550" b="1">
                <a:solidFill>
                  <a:srgbClr val="146D73"/>
                </a:solidFill>
                <a:latin typeface="Helvetica Neue"/>
                <a:ea typeface="Helvetica Neue"/>
                <a:cs typeface="Helvetica Neue"/>
              </a:rPr>
              <a:t>1</a:t>
            </a:r>
          </a:p>
        </p:txBody>
      </p:sp>
      <p:sp>
        <p:nvSpPr>
          <p:cNvPr id="5" name="event-1">
            <a:extLst xmlns:a="http://schemas.openxmlformats.org/drawingml/2006/main">
              <a:ext uri="{FF2B5EF4-FFF2-40B4-BE49-F238E27FC236}">
                <a16:creationId xmlns:a16="http://schemas.microsoft.com/office/drawing/2014/main" id="{7B9A2849-086E-4E75-A32C-7905B65D8E93}"/>
              </a:ext>
            </a:extLst>
          </p:cNvPr>
          <p:cNvSpPr>
            <a:spLocks xmlns:a="http://schemas.openxmlformats.org/drawingml/2006/main" noGrp="1"/>
          </p:cNvSpPr>
          <p:nvPr/>
        </p:nvSpPr>
        <p:spPr>
          <a:xfrm xmlns:a="http://schemas.openxmlformats.org/drawingml/2006/main">
            <a:off x="1485900" y="20288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L1: возврат с повреждением</a:t>
            </a:r>
          </a:p>
        </p:txBody>
      </p:sp>
      <p:sp>
        <p:nvSpPr>
          <p:cNvPr id="6" name="step-2">
            <a:extLst xmlns:a="http://schemas.openxmlformats.org/drawingml/2006/main">
              <a:ext uri="{FF2B5EF4-FFF2-40B4-BE49-F238E27FC236}">
                <a16:creationId xmlns:a16="http://schemas.microsoft.com/office/drawing/2014/main" id="{E62E8267-EEBF-4861-8922-0F36D60FE362}"/>
              </a:ext>
            </a:extLst>
          </p:cNvPr>
          <p:cNvSpPr>
            <a:spLocks xmlns:a="http://schemas.openxmlformats.org/drawingml/2006/main" noGrp="1"/>
          </p:cNvSpPr>
          <p:nvPr/>
        </p:nvSpPr>
        <p:spPr>
          <a:xfrm xmlns:a="http://schemas.openxmlformats.org/drawingml/2006/main">
            <a:off x="762000" y="2809875"/>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6D73"/>
                </a:solidFill>
                <a:latin typeface="Helvetica Neue"/>
                <a:ea typeface="Helvetica Neue"/>
                <a:cs typeface="Helvetica Neue"/>
              </a:defRPr>
            </a:pPr>
            <a:r>
              <a:rPr sz="2550" b="1">
                <a:solidFill>
                  <a:srgbClr val="146D73"/>
                </a:solidFill>
                <a:latin typeface="Helvetica Neue"/>
                <a:ea typeface="Helvetica Neue"/>
                <a:cs typeface="Helvetica Neue"/>
              </a:rPr>
              <a:t>2</a:t>
            </a:r>
          </a:p>
        </p:txBody>
      </p:sp>
      <p:sp>
        <p:nvSpPr>
          <p:cNvPr id="7" name="event-2">
            <a:extLst xmlns:a="http://schemas.openxmlformats.org/drawingml/2006/main">
              <a:ext uri="{FF2B5EF4-FFF2-40B4-BE49-F238E27FC236}">
                <a16:creationId xmlns:a16="http://schemas.microsoft.com/office/drawing/2014/main" id="{BA45C92D-FD99-4B55-B286-B71979ED6FE9}"/>
              </a:ext>
            </a:extLst>
          </p:cNvPr>
          <p:cNvSpPr>
            <a:spLocks xmlns:a="http://schemas.openxmlformats.org/drawingml/2006/main" noGrp="1"/>
          </p:cNvSpPr>
          <p:nvPr/>
        </p:nvSpPr>
        <p:spPr>
          <a:xfrm xmlns:a="http://schemas.openxmlformats.org/drawingml/2006/main">
            <a:off x="1485900" y="280987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Ремонт, предмет снова пригоден</a:t>
            </a:r>
          </a:p>
        </p:txBody>
      </p:sp>
      <p:sp>
        <p:nvSpPr>
          <p:cNvPr id="8" name="step-3">
            <a:extLst xmlns:a="http://schemas.openxmlformats.org/drawingml/2006/main">
              <a:ext uri="{FF2B5EF4-FFF2-40B4-BE49-F238E27FC236}">
                <a16:creationId xmlns:a16="http://schemas.microsoft.com/office/drawing/2014/main" id="{CEC55D30-DA92-4515-8635-0A78AE6D2946}"/>
              </a:ext>
            </a:extLst>
          </p:cNvPr>
          <p:cNvSpPr>
            <a:spLocks xmlns:a="http://schemas.openxmlformats.org/drawingml/2006/main" noGrp="1"/>
          </p:cNvSpPr>
          <p:nvPr/>
        </p:nvSpPr>
        <p:spPr>
          <a:xfrm xmlns:a="http://schemas.openxmlformats.org/drawingml/2006/main">
            <a:off x="762000" y="3590925"/>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6D73"/>
                </a:solidFill>
                <a:latin typeface="Helvetica Neue"/>
                <a:ea typeface="Helvetica Neue"/>
                <a:cs typeface="Helvetica Neue"/>
              </a:defRPr>
            </a:pPr>
            <a:r>
              <a:rPr sz="2550" b="1">
                <a:solidFill>
                  <a:srgbClr val="146D73"/>
                </a:solidFill>
                <a:latin typeface="Helvetica Neue"/>
                <a:ea typeface="Helvetica Neue"/>
                <a:cs typeface="Helvetica Neue"/>
              </a:rPr>
              <a:t>3</a:t>
            </a:r>
          </a:p>
        </p:txBody>
      </p:sp>
      <p:sp>
        <p:nvSpPr>
          <p:cNvPr id="9" name="event-3">
            <a:extLst xmlns:a="http://schemas.openxmlformats.org/drawingml/2006/main">
              <a:ext uri="{FF2B5EF4-FFF2-40B4-BE49-F238E27FC236}">
                <a16:creationId xmlns:a16="http://schemas.microsoft.com/office/drawing/2014/main" id="{014D6971-4782-4904-9A94-5220853D9558}"/>
              </a:ext>
            </a:extLst>
          </p:cNvPr>
          <p:cNvSpPr>
            <a:spLocks xmlns:a="http://schemas.openxmlformats.org/drawingml/2006/main" noGrp="1"/>
          </p:cNvSpPr>
          <p:nvPr/>
        </p:nvSpPr>
        <p:spPr>
          <a:xfrm xmlns:a="http://schemas.openxmlformats.org/drawingml/2006/main">
            <a:off x="1485900" y="359092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Новая выдача L2</a:t>
            </a:r>
          </a:p>
        </p:txBody>
      </p:sp>
      <p:sp>
        <p:nvSpPr>
          <p:cNvPr id="10" name="step-4">
            <a:extLst xmlns:a="http://schemas.openxmlformats.org/drawingml/2006/main">
              <a:ext uri="{FF2B5EF4-FFF2-40B4-BE49-F238E27FC236}">
                <a16:creationId xmlns:a16="http://schemas.microsoft.com/office/drawing/2014/main" id="{BA328347-7FEE-4840-8B23-651D629164F5}"/>
              </a:ext>
            </a:extLst>
          </p:cNvPr>
          <p:cNvSpPr>
            <a:spLocks xmlns:a="http://schemas.openxmlformats.org/drawingml/2006/main" noGrp="1"/>
          </p:cNvSpPr>
          <p:nvPr/>
        </p:nvSpPr>
        <p:spPr>
          <a:xfrm xmlns:a="http://schemas.openxmlformats.org/drawingml/2006/main">
            <a:off x="762000" y="4371975"/>
            <a:ext cx="47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46D73"/>
                </a:solidFill>
                <a:latin typeface="Helvetica Neue"/>
                <a:ea typeface="Helvetica Neue"/>
                <a:cs typeface="Helvetica Neue"/>
              </a:defRPr>
            </a:pPr>
            <a:r>
              <a:rPr sz="2550" b="1">
                <a:solidFill>
                  <a:srgbClr val="146D73"/>
                </a:solidFill>
                <a:latin typeface="Helvetica Neue"/>
                <a:ea typeface="Helvetica Neue"/>
                <a:cs typeface="Helvetica Neue"/>
              </a:rPr>
              <a:t>4</a:t>
            </a:r>
          </a:p>
        </p:txBody>
      </p:sp>
      <p:sp>
        <p:nvSpPr>
          <p:cNvPr id="11" name="event-4">
            <a:extLst xmlns:a="http://schemas.openxmlformats.org/drawingml/2006/main">
              <a:ext uri="{FF2B5EF4-FFF2-40B4-BE49-F238E27FC236}">
                <a16:creationId xmlns:a16="http://schemas.microsoft.com/office/drawing/2014/main" id="{A44A5CB9-2043-4276-92B0-E082FC453AE5}"/>
              </a:ext>
            </a:extLst>
          </p:cNvPr>
          <p:cNvSpPr>
            <a:spLocks xmlns:a="http://schemas.openxmlformats.org/drawingml/2006/main" noGrp="1"/>
          </p:cNvSpPr>
          <p:nvPr/>
        </p:nvSpPr>
        <p:spPr>
          <a:xfrm xmlns:a="http://schemas.openxmlformats.org/drawingml/2006/main">
            <a:off x="1485900" y="4371975"/>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Повтор возврата L1</a:t>
            </a:r>
          </a:p>
        </p:txBody>
      </p:sp>
      <p:sp>
        <p:nvSpPr>
          <p:cNvPr id="12" name="counterexample-state">
            <a:extLst xmlns:a="http://schemas.openxmlformats.org/drawingml/2006/main">
              <a:ext uri="{FF2B5EF4-FFF2-40B4-BE49-F238E27FC236}">
                <a16:creationId xmlns:a16="http://schemas.microsoft.com/office/drawing/2014/main" id="{72D531B6-829E-41D4-883C-0696AE8D2B68}"/>
              </a:ext>
            </a:extLst>
          </p:cNvPr>
          <p:cNvSpPr>
            <a:spLocks xmlns:a="http://schemas.openxmlformats.org/drawingml/2006/main" noGrp="1"/>
          </p:cNvSpPr>
          <p:nvPr/>
        </p:nvSpPr>
        <p:spPr>
          <a:xfrm xmlns:a="http://schemas.openxmlformats.org/drawingml/2006/main">
            <a:off x="7286625" y="2295525"/>
            <a:ext cx="4143375"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12263A"/>
                </a:solidFill>
                <a:latin typeface="Helvetica Neue"/>
                <a:ea typeface="Helvetica Neue"/>
                <a:cs typeface="Helvetica Neue"/>
              </a:defRPr>
            </a:pPr>
            <a:r>
              <a:rPr sz="2775" b="1">
                <a:solidFill>
                  <a:srgbClr val="12263A"/>
                </a:solidFill>
                <a:latin typeface="Helvetica Neue"/>
                <a:ea typeface="Helvetica Neue"/>
                <a:cs typeface="Helvetica Neue"/>
              </a:rPr>
              <a:t>L1 не меняется.</a:t>
            </a:r>
          </a:p>
          <a:p xmlns:a="http://schemas.openxmlformats.org/drawingml/2006/main">
            <a:pPr>
              <a:defRPr sz="2775" b="1">
                <a:solidFill>
                  <a:srgbClr val="12263A"/>
                </a:solidFill>
                <a:latin typeface="Helvetica Neue"/>
                <a:ea typeface="Helvetica Neue"/>
                <a:cs typeface="Helvetica Neue"/>
              </a:defRPr>
            </a:pPr>
            <a:r>
              <a:rPr sz="2775" b="1">
                <a:solidFill>
                  <a:srgbClr val="12263A"/>
                </a:solidFill>
                <a:latin typeface="Helvetica Neue"/>
                <a:ea typeface="Helvetica Neue"/>
                <a:cs typeface="Helvetica Neue"/>
              </a:rPr>
              <a:t>Предмет снова</a:t>
            </a:r>
          </a:p>
          <a:p xmlns:a="http://schemas.openxmlformats.org/drawingml/2006/main">
            <a:pPr>
              <a:defRPr sz="2775" b="1">
                <a:solidFill>
                  <a:srgbClr val="12263A"/>
                </a:solidFill>
                <a:latin typeface="Helvetica Neue"/>
                <a:ea typeface="Helvetica Neue"/>
                <a:cs typeface="Helvetica Neue"/>
              </a:defRPr>
            </a:pPr>
            <a:r>
              <a:rPr sz="2775" b="1">
                <a:solidFill>
                  <a:srgbClr val="12263A"/>
                </a:solidFill>
                <a:latin typeface="Helvetica Neue"/>
                <a:ea typeface="Helvetica Neue"/>
                <a:cs typeface="Helvetica Neue"/>
              </a:rPr>
              <a:t>помечен непригодным.</a:t>
            </a:r>
          </a:p>
        </p:txBody>
      </p:sp>
      <p:sp>
        <p:nvSpPr>
          <p:cNvPr id="13" name="priority">
            <a:extLst xmlns:a="http://schemas.openxmlformats.org/drawingml/2006/main">
              <a:ext uri="{FF2B5EF4-FFF2-40B4-BE49-F238E27FC236}">
                <a16:creationId xmlns:a16="http://schemas.microsoft.com/office/drawing/2014/main" id="{E81FBBAF-3B1B-4834-9BDF-062D35014E00}"/>
              </a:ext>
            </a:extLst>
          </p:cNvPr>
          <p:cNvSpPr>
            <a:spLocks xmlns:a="http://schemas.openxmlformats.org/drawingml/2006/main" noGrp="1"/>
          </p:cNvSpPr>
          <p:nvPr/>
        </p:nvSpPr>
        <p:spPr>
          <a:xfrm xmlns:a="http://schemas.openxmlformats.org/drawingml/2006/main">
            <a:off x="7286625" y="4295775"/>
            <a:ext cx="4143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556575"/>
                </a:solidFill>
                <a:latin typeface="Helvetica Neue"/>
                <a:ea typeface="Helvetica Neue"/>
                <a:cs typeface="Helvetica Neue"/>
              </a:defRPr>
            </a:pPr>
            <a:r>
              <a:rPr sz="2025">
                <a:solidFill>
                  <a:srgbClr val="556575"/>
                </a:solidFill>
                <a:latin typeface="Helvetica Neue"/>
                <a:ea typeface="Helvetica Neue"/>
                <a:cs typeface="Helvetica Neue"/>
              </a:rPr>
              <a:t>Высокий приоритет:</a:t>
            </a:r>
          </a:p>
          <a:p xmlns:a="http://schemas.openxmlformats.org/drawingml/2006/main">
            <a:pPr>
              <a:defRPr sz="2025">
                <a:solidFill>
                  <a:srgbClr val="556575"/>
                </a:solidFill>
                <a:latin typeface="Helvetica Neue"/>
                <a:ea typeface="Helvetica Neue"/>
                <a:cs typeface="Helvetica Neue"/>
              </a:defRPr>
            </a:pPr>
            <a:r>
              <a:rPr sz="2025">
                <a:solidFill>
                  <a:srgbClr val="556575"/>
                </a:solidFill>
                <a:latin typeface="Helvetica Neue"/>
                <a:ea typeface="Helvetica Neue"/>
                <a:cs typeface="Helvetica Neue"/>
              </a:rPr>
              <a:t>обычный повтор искажает учёт.</a:t>
            </a:r>
          </a:p>
        </p:txBody>
      </p:sp>
      <p:sp>
        <p:nvSpPr>
          <p:cNvPr id="14" name="source-of-error">
            <a:extLst xmlns:a="http://schemas.openxmlformats.org/drawingml/2006/main">
              <a:ext uri="{FF2B5EF4-FFF2-40B4-BE49-F238E27FC236}">
                <a16:creationId xmlns:a16="http://schemas.microsoft.com/office/drawing/2014/main" id="{F759C0C5-AD5D-450C-83E4-361E8E94175A}"/>
              </a:ext>
            </a:extLst>
          </p:cNvPr>
          <p:cNvSpPr>
            <a:spLocks xmlns:a="http://schemas.openxmlformats.org/drawingml/2006/main" noGrp="1"/>
          </p:cNvSpPr>
          <p:nvPr/>
        </p:nvSpPr>
        <p:spPr>
          <a:xfrm xmlns:a="http://schemas.openxmlformats.org/drawingml/2006/main">
            <a:off x="762000" y="5734050"/>
            <a:ext cx="990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12263A"/>
                </a:solidFill>
                <a:latin typeface="Helvetica Neue"/>
                <a:ea typeface="Helvetica Neue"/>
                <a:cs typeface="Helvetica Neue"/>
              </a:defRPr>
            </a:pPr>
            <a:r>
              <a:rPr sz="2025">
                <a:solidFill>
                  <a:srgbClr val="12263A"/>
                </a:solidFill>
                <a:latin typeface="Helvetica Neue"/>
                <a:ea typeface="Helvetica Neue"/>
                <a:cs typeface="Helvetica Neue"/>
              </a:rPr>
              <a:t>Причина: карточка меняется без нового завершения выдачи.</a:t>
            </a:r>
          </a:p>
        </p:txBody>
      </p:sp>
    </p:spTree>
    <p:extLst>
      <p:ext uri="{BB962C8B-B14F-4D97-AF65-F5344CB8AC3E}">
        <p14:creationId xmlns:p14="http://schemas.microsoft.com/office/powerpoint/2010/main" val="2792822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8818B86-5AE1-4DE8-BC11-0414692B186F}"/>
              </a:ext>
            </a:extLst>
          </p:cNvPr>
          <p:cNvSpPr>
            <a:spLocks xmlns:a="http://schemas.openxmlformats.org/drawingml/2006/main" noGrp="1"/>
          </p:cNvSpPr>
          <p:nvPr/>
        </p:nvSpPr>
        <p:spPr>
          <a:xfrm xmlns:a="http://schemas.openxmlformats.org/drawingml/2006/main">
            <a:off x="762000" y="6286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263A"/>
                </a:solidFill>
                <a:latin typeface="Helvetica Neue"/>
                <a:ea typeface="Helvetica Neue"/>
                <a:cs typeface="Helvetica Neue"/>
              </a:defRPr>
            </a:pPr>
            <a:r>
              <a:rPr sz="3600" b="1">
                <a:solidFill>
                  <a:srgbClr val="12263A"/>
                </a:solidFill>
                <a:latin typeface="Helvetica Neue"/>
                <a:ea typeface="Helvetica Neue"/>
                <a:cs typeface="Helvetica Neue"/>
              </a:rPr>
              <a:t>SR-05. Без изменений при повторе</a:t>
            </a:r>
          </a:p>
        </p:txBody>
      </p:sp>
      <p:sp>
        <p:nvSpPr>
          <p:cNvPr id="2" name="folio">
            <a:extLst xmlns:a="http://schemas.openxmlformats.org/drawingml/2006/main">
              <a:ext uri="{FF2B5EF4-FFF2-40B4-BE49-F238E27FC236}">
                <a16:creationId xmlns:a16="http://schemas.microsoft.com/office/drawing/2014/main" id="{A6DF8E75-4FF3-4185-B4D8-47FD08198597}"/>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4</a:t>
            </a:r>
          </a:p>
        </p:txBody>
      </p:sp>
      <p:sp>
        <p:nvSpPr>
          <p:cNvPr id="3" name="requirement">
            <a:extLst xmlns:a="http://schemas.openxmlformats.org/drawingml/2006/main">
              <a:ext uri="{FF2B5EF4-FFF2-40B4-BE49-F238E27FC236}">
                <a16:creationId xmlns:a16="http://schemas.microsoft.com/office/drawing/2014/main" id="{463F63CE-F520-45B2-B4FF-01E01482EDFC}"/>
              </a:ext>
            </a:extLst>
          </p:cNvPr>
          <p:cNvSpPr>
            <a:spLocks xmlns:a="http://schemas.openxmlformats.org/drawingml/2006/main" noGrp="1"/>
          </p:cNvSpPr>
          <p:nvPr/>
        </p:nvSpPr>
        <p:spPr>
          <a:xfrm xmlns:a="http://schemas.openxmlformats.org/drawingml/2006/main">
            <a:off x="762000" y="2009775"/>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12263A"/>
                </a:solidFill>
                <a:latin typeface="Helvetica Neue"/>
                <a:ea typeface="Helvetica Neue"/>
                <a:cs typeface="Helvetica Neue"/>
              </a:defRPr>
            </a:pPr>
            <a:r>
              <a:rPr sz="3150" b="1">
                <a:solidFill>
                  <a:srgbClr val="12263A"/>
                </a:solidFill>
                <a:latin typeface="Helvetica Neue"/>
                <a:ea typeface="Helvetica Neue"/>
                <a:cs typeface="Helvetica Neue"/>
              </a:rPr>
              <a:t>Повтор возврата сохраняет</a:t>
            </a:r>
          </a:p>
          <a:p xmlns:a="http://schemas.openxmlformats.org/drawingml/2006/main">
            <a:pPr>
              <a:defRPr sz="3150" b="1">
                <a:solidFill>
                  <a:srgbClr val="12263A"/>
                </a:solidFill>
                <a:latin typeface="Helvetica Neue"/>
                <a:ea typeface="Helvetica Neue"/>
                <a:cs typeface="Helvetica Neue"/>
              </a:defRPr>
            </a:pPr>
            <a:r>
              <a:rPr sz="3150" b="1">
                <a:solidFill>
                  <a:srgbClr val="12263A"/>
                </a:solidFill>
                <a:latin typeface="Helvetica Neue"/>
                <a:ea typeface="Helvetica Neue"/>
                <a:cs typeface="Helvetica Neue"/>
              </a:rPr>
              <a:t>все связанные данные</a:t>
            </a:r>
          </a:p>
        </p:txBody>
      </p:sp>
      <p:sp>
        <p:nvSpPr>
          <p:cNvPr id="4" name="old-loan">
            <a:extLst xmlns:a="http://schemas.openxmlformats.org/drawingml/2006/main">
              <a:ext uri="{FF2B5EF4-FFF2-40B4-BE49-F238E27FC236}">
                <a16:creationId xmlns:a16="http://schemas.microsoft.com/office/drawing/2014/main" id="{66EF65A5-9EC2-420B-B7E5-CBA7E5458C1E}"/>
              </a:ext>
            </a:extLst>
          </p:cNvPr>
          <p:cNvSpPr>
            <a:spLocks xmlns:a="http://schemas.openxmlformats.org/drawingml/2006/main" noGrp="1"/>
          </p:cNvSpPr>
          <p:nvPr/>
        </p:nvSpPr>
        <p:spPr>
          <a:xfrm xmlns:a="http://schemas.openxmlformats.org/drawingml/2006/main">
            <a:off x="762000" y="3648075"/>
            <a:ext cx="304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6D73"/>
                </a:solidFill>
                <a:latin typeface="Helvetica Neue"/>
                <a:ea typeface="Helvetica Neue"/>
                <a:cs typeface="Helvetica Neue"/>
              </a:defRPr>
            </a:pPr>
            <a:r>
              <a:rPr sz="3600" b="1">
                <a:solidFill>
                  <a:srgbClr val="146D73"/>
                </a:solidFill>
                <a:latin typeface="Helvetica Neue"/>
                <a:ea typeface="Helvetica Neue"/>
                <a:cs typeface="Helvetica Neue"/>
              </a:rPr>
              <a:t>L1</a:t>
            </a:r>
          </a:p>
        </p:txBody>
      </p:sp>
      <p:sp>
        <p:nvSpPr>
          <p:cNvPr id="5" name="old-loan-label">
            <a:extLst xmlns:a="http://schemas.openxmlformats.org/drawingml/2006/main">
              <a:ext uri="{FF2B5EF4-FFF2-40B4-BE49-F238E27FC236}">
                <a16:creationId xmlns:a16="http://schemas.microsoft.com/office/drawing/2014/main" id="{210FA316-CF59-4890-ACDC-18109E6E1483}"/>
              </a:ext>
            </a:extLst>
          </p:cNvPr>
          <p:cNvSpPr>
            <a:spLocks xmlns:a="http://schemas.openxmlformats.org/drawingml/2006/main" noGrp="1"/>
          </p:cNvSpPr>
          <p:nvPr/>
        </p:nvSpPr>
        <p:spPr>
          <a:xfrm xmlns:a="http://schemas.openxmlformats.org/drawingml/2006/main">
            <a:off x="762000" y="443865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Старый возврат</a:t>
            </a:r>
          </a:p>
        </p:txBody>
      </p:sp>
      <p:sp>
        <p:nvSpPr>
          <p:cNvPr id="6" name="item">
            <a:extLst xmlns:a="http://schemas.openxmlformats.org/drawingml/2006/main">
              <a:ext uri="{FF2B5EF4-FFF2-40B4-BE49-F238E27FC236}">
                <a16:creationId xmlns:a16="http://schemas.microsoft.com/office/drawing/2014/main" id="{66DE3E04-EEB3-4274-9CA2-87082C45CE1E}"/>
              </a:ext>
            </a:extLst>
          </p:cNvPr>
          <p:cNvSpPr>
            <a:spLocks xmlns:a="http://schemas.openxmlformats.org/drawingml/2006/main" noGrp="1"/>
          </p:cNvSpPr>
          <p:nvPr/>
        </p:nvSpPr>
        <p:spPr>
          <a:xfrm xmlns:a="http://schemas.openxmlformats.org/drawingml/2006/main">
            <a:off x="4352925" y="3648075"/>
            <a:ext cx="323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6D73"/>
                </a:solidFill>
                <a:latin typeface="Helvetica Neue"/>
                <a:ea typeface="Helvetica Neue"/>
                <a:cs typeface="Helvetica Neue"/>
              </a:defRPr>
            </a:pPr>
            <a:r>
              <a:rPr sz="3600" b="1">
                <a:solidFill>
                  <a:srgbClr val="146D73"/>
                </a:solidFill>
                <a:latin typeface="Helvetica Neue"/>
                <a:ea typeface="Helvetica Neue"/>
                <a:cs typeface="Helvetica Neue"/>
              </a:rPr>
              <a:t>Карточка</a:t>
            </a:r>
          </a:p>
        </p:txBody>
      </p:sp>
      <p:sp>
        <p:nvSpPr>
          <p:cNvPr id="7" name="item-label">
            <a:extLst xmlns:a="http://schemas.openxmlformats.org/drawingml/2006/main">
              <a:ext uri="{FF2B5EF4-FFF2-40B4-BE49-F238E27FC236}">
                <a16:creationId xmlns:a16="http://schemas.microsoft.com/office/drawing/2014/main" id="{FFA136A1-9647-4557-B978-5C7FCF301148}"/>
              </a:ext>
            </a:extLst>
          </p:cNvPr>
          <p:cNvSpPr>
            <a:spLocks xmlns:a="http://schemas.openxmlformats.org/drawingml/2006/main" noGrp="1"/>
          </p:cNvSpPr>
          <p:nvPr/>
        </p:nvSpPr>
        <p:spPr>
          <a:xfrm xmlns:a="http://schemas.openxmlformats.org/drawingml/2006/main">
            <a:off x="4352925" y="443865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Текущая пригодность</a:t>
            </a:r>
          </a:p>
        </p:txBody>
      </p:sp>
      <p:sp>
        <p:nvSpPr>
          <p:cNvPr id="8" name="new-loan">
            <a:extLst xmlns:a="http://schemas.openxmlformats.org/drawingml/2006/main">
              <a:ext uri="{FF2B5EF4-FFF2-40B4-BE49-F238E27FC236}">
                <a16:creationId xmlns:a16="http://schemas.microsoft.com/office/drawing/2014/main" id="{CEBC7840-456B-47A8-B350-AF1C370DEA54}"/>
              </a:ext>
            </a:extLst>
          </p:cNvPr>
          <p:cNvSpPr>
            <a:spLocks xmlns:a="http://schemas.openxmlformats.org/drawingml/2006/main" noGrp="1"/>
          </p:cNvSpPr>
          <p:nvPr/>
        </p:nvSpPr>
        <p:spPr>
          <a:xfrm xmlns:a="http://schemas.openxmlformats.org/drawingml/2006/main">
            <a:off x="9029700" y="3648075"/>
            <a:ext cx="24003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46D73"/>
                </a:solidFill>
                <a:latin typeface="Helvetica Neue"/>
                <a:ea typeface="Helvetica Neue"/>
                <a:cs typeface="Helvetica Neue"/>
              </a:defRPr>
            </a:pPr>
            <a:r>
              <a:rPr sz="3600" b="1">
                <a:solidFill>
                  <a:srgbClr val="146D73"/>
                </a:solidFill>
                <a:latin typeface="Helvetica Neue"/>
                <a:ea typeface="Helvetica Neue"/>
                <a:cs typeface="Helvetica Neue"/>
              </a:rPr>
              <a:t>L2</a:t>
            </a:r>
          </a:p>
        </p:txBody>
      </p:sp>
      <p:sp>
        <p:nvSpPr>
          <p:cNvPr id="9" name="new-loan-label">
            <a:extLst xmlns:a="http://schemas.openxmlformats.org/drawingml/2006/main">
              <a:ext uri="{FF2B5EF4-FFF2-40B4-BE49-F238E27FC236}">
                <a16:creationId xmlns:a16="http://schemas.microsoft.com/office/drawing/2014/main" id="{CBE39BC5-6B6A-4BBB-B04C-70777052AD80}"/>
              </a:ext>
            </a:extLst>
          </p:cNvPr>
          <p:cNvSpPr>
            <a:spLocks xmlns:a="http://schemas.openxmlformats.org/drawingml/2006/main" noGrp="1"/>
          </p:cNvSpPr>
          <p:nvPr/>
        </p:nvSpPr>
        <p:spPr>
          <a:xfrm xmlns:a="http://schemas.openxmlformats.org/drawingml/2006/main">
            <a:off x="9029700" y="4438650"/>
            <a:ext cx="24003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2263A"/>
                </a:solidFill>
                <a:latin typeface="Helvetica Neue"/>
                <a:ea typeface="Helvetica Neue"/>
                <a:cs typeface="Helvetica Neue"/>
              </a:defRPr>
            </a:pPr>
            <a:r>
              <a:rPr sz="2250">
                <a:solidFill>
                  <a:srgbClr val="12263A"/>
                </a:solidFill>
                <a:latin typeface="Helvetica Neue"/>
                <a:ea typeface="Helvetica Neue"/>
                <a:cs typeface="Helvetica Neue"/>
              </a:rPr>
              <a:t>Новая выдача</a:t>
            </a:r>
          </a:p>
        </p:txBody>
      </p:sp>
      <p:sp>
        <p:nvSpPr>
          <p:cNvPr id="10" name="acceptance">
            <a:extLst xmlns:a="http://schemas.openxmlformats.org/drawingml/2006/main">
              <a:ext uri="{FF2B5EF4-FFF2-40B4-BE49-F238E27FC236}">
                <a16:creationId xmlns:a16="http://schemas.microsoft.com/office/drawing/2014/main" id="{52E1B4F9-923C-43C8-BCA9-C3012006A179}"/>
              </a:ext>
            </a:extLst>
          </p:cNvPr>
          <p:cNvSpPr>
            <a:spLocks xmlns:a="http://schemas.openxmlformats.org/drawingml/2006/main" noGrp="1"/>
          </p:cNvSpPr>
          <p:nvPr/>
        </p:nvSpPr>
        <p:spPr>
          <a:xfrm xmlns:a="http://schemas.openxmlformats.org/drawingml/2006/main">
            <a:off x="762000" y="5438775"/>
            <a:ext cx="990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12263A"/>
                </a:solidFill>
                <a:latin typeface="Helvetica Neue"/>
                <a:ea typeface="Helvetica Neue"/>
                <a:cs typeface="Helvetica Neue"/>
              </a:defRPr>
            </a:pPr>
            <a:r>
              <a:rPr sz="2325">
                <a:solidFill>
                  <a:srgbClr val="12263A"/>
                </a:solidFill>
                <a:latin typeface="Helvetica Neue"/>
                <a:ea typeface="Helvetica Neue"/>
                <a:cs typeface="Helvetica Neue"/>
              </a:rPr>
              <a:t>Ответ 409. Поля L1, L2 и карточки</a:t>
            </a:r>
          </a:p>
          <a:p xmlns:a="http://schemas.openxmlformats.org/drawingml/2006/main">
            <a:pPr>
              <a:defRPr sz="2325">
                <a:solidFill>
                  <a:srgbClr val="12263A"/>
                </a:solidFill>
                <a:latin typeface="Helvetica Neue"/>
                <a:ea typeface="Helvetica Neue"/>
                <a:cs typeface="Helvetica Neue"/>
              </a:defRPr>
            </a:pPr>
            <a:r>
              <a:rPr sz="2325">
                <a:solidFill>
                  <a:srgbClr val="12263A"/>
                </a:solidFill>
                <a:latin typeface="Helvetica Neue"/>
                <a:ea typeface="Helvetica Neue"/>
                <a:cs typeface="Helvetica Neue"/>
              </a:rPr>
              <a:t>совпадают до и после повтора.</a:t>
            </a:r>
          </a:p>
        </p:txBody>
      </p:sp>
    </p:spTree>
    <p:extLst>
      <p:ext uri="{BB962C8B-B14F-4D97-AF65-F5344CB8AC3E}">
        <p14:creationId xmlns:p14="http://schemas.microsoft.com/office/powerpoint/2010/main" val="286121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0D9951C-8C48-4DF5-9DBC-9644164DAB6F}"/>
              </a:ext>
            </a:extLst>
          </p:cNvPr>
          <p:cNvSpPr>
            <a:spLocks xmlns:a="http://schemas.openxmlformats.org/drawingml/2006/main" noGrp="1"/>
          </p:cNvSpPr>
          <p:nvPr/>
        </p:nvSpPr>
        <p:spPr>
          <a:xfrm xmlns:a="http://schemas.openxmlformats.org/drawingml/2006/main">
            <a:off x="762000" y="6286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263A"/>
                </a:solidFill>
                <a:latin typeface="Helvetica Neue"/>
                <a:ea typeface="Helvetica Neue"/>
                <a:cs typeface="Helvetica Neue"/>
              </a:defRPr>
            </a:pPr>
            <a:r>
              <a:rPr sz="3600" b="1">
                <a:solidFill>
                  <a:srgbClr val="12263A"/>
                </a:solidFill>
                <a:latin typeface="Helvetica Neue"/>
                <a:ea typeface="Helvetica Neue"/>
                <a:cs typeface="Helvetica Neue"/>
              </a:rPr>
              <a:t>D-02. Согласованный возврат</a:t>
            </a:r>
          </a:p>
        </p:txBody>
      </p:sp>
      <p:sp>
        <p:nvSpPr>
          <p:cNvPr id="2" name="folio">
            <a:extLst xmlns:a="http://schemas.openxmlformats.org/drawingml/2006/main">
              <a:ext uri="{FF2B5EF4-FFF2-40B4-BE49-F238E27FC236}">
                <a16:creationId xmlns:a16="http://schemas.microsoft.com/office/drawing/2014/main" id="{4E810134-58C9-4119-A8E4-7B6E5C26D73A}"/>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5</a:t>
            </a:r>
          </a:p>
        </p:txBody>
      </p:sp>
      <p:sp>
        <p:nvSpPr>
          <p:cNvPr id="3" name="choice-label">
            <a:extLst xmlns:a="http://schemas.openxmlformats.org/drawingml/2006/main">
              <a:ext uri="{FF2B5EF4-FFF2-40B4-BE49-F238E27FC236}">
                <a16:creationId xmlns:a16="http://schemas.microsoft.com/office/drawing/2014/main" id="{7861C4CA-C881-466B-9B17-8172B7A65A1D}"/>
              </a:ext>
            </a:extLst>
          </p:cNvPr>
          <p:cNvSpPr>
            <a:spLocks xmlns:a="http://schemas.openxmlformats.org/drawingml/2006/main" noGrp="1"/>
          </p:cNvSpPr>
          <p:nvPr/>
        </p:nvSpPr>
        <p:spPr>
          <a:xfrm xmlns:a="http://schemas.openxmlformats.org/drawingml/2006/main">
            <a:off x="762000" y="2019300"/>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46D73"/>
                </a:solidFill>
                <a:latin typeface="Helvetica Neue"/>
                <a:ea typeface="Helvetica Neue"/>
                <a:cs typeface="Helvetica Neue"/>
              </a:defRPr>
            </a:pPr>
            <a:r>
              <a:rPr sz="2400" b="1">
                <a:solidFill>
                  <a:srgbClr val="146D73"/>
                </a:solidFill>
                <a:latin typeface="Helvetica Neue"/>
                <a:ea typeface="Helvetica Neue"/>
                <a:cs typeface="Helvetica Neue"/>
              </a:rPr>
              <a:t>Явная транзакция</a:t>
            </a:r>
          </a:p>
        </p:txBody>
      </p:sp>
      <p:sp>
        <p:nvSpPr>
          <p:cNvPr id="4" name="choice">
            <a:extLst xmlns:a="http://schemas.openxmlformats.org/drawingml/2006/main">
              <a:ext uri="{FF2B5EF4-FFF2-40B4-BE49-F238E27FC236}">
                <a16:creationId xmlns:a16="http://schemas.microsoft.com/office/drawing/2014/main" id="{BD662F81-2A2C-488F-9AC2-E5960436CAF8}"/>
              </a:ext>
            </a:extLst>
          </p:cNvPr>
          <p:cNvSpPr>
            <a:spLocks xmlns:a="http://schemas.openxmlformats.org/drawingml/2006/main" noGrp="1"/>
          </p:cNvSpPr>
          <p:nvPr/>
        </p:nvSpPr>
        <p:spPr>
          <a:xfrm xmlns:a="http://schemas.openxmlformats.org/drawingml/2006/main">
            <a:off x="762000" y="2886075"/>
            <a:ext cx="52863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Блокируем экземпляр, затем выдачу.</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При повторе: 409 до записей.</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При ошибке: откат.</a:t>
            </a:r>
          </a:p>
        </p:txBody>
      </p:sp>
      <p:sp>
        <p:nvSpPr>
          <p:cNvPr id="5" name="alternative-label">
            <a:extLst xmlns:a="http://schemas.openxmlformats.org/drawingml/2006/main">
              <a:ext uri="{FF2B5EF4-FFF2-40B4-BE49-F238E27FC236}">
                <a16:creationId xmlns:a16="http://schemas.microsoft.com/office/drawing/2014/main" id="{600B0A5D-EEF1-49FC-B03B-3F50F04EB1AD}"/>
              </a:ext>
            </a:extLst>
          </p:cNvPr>
          <p:cNvSpPr>
            <a:spLocks xmlns:a="http://schemas.openxmlformats.org/drawingml/2006/main" noGrp="1"/>
          </p:cNvSpPr>
          <p:nvPr/>
        </p:nvSpPr>
        <p:spPr>
          <a:xfrm xmlns:a="http://schemas.openxmlformats.org/drawingml/2006/main">
            <a:off x="6934200" y="2019300"/>
            <a:ext cx="4495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12263A"/>
                </a:solidFill>
                <a:latin typeface="Helvetica Neue"/>
                <a:ea typeface="Helvetica Neue"/>
                <a:cs typeface="Helvetica Neue"/>
              </a:defRPr>
            </a:pPr>
            <a:r>
              <a:rPr sz="2400" b="1">
                <a:solidFill>
                  <a:srgbClr val="12263A"/>
                </a:solidFill>
                <a:latin typeface="Helvetica Neue"/>
                <a:ea typeface="Helvetica Neue"/>
                <a:cs typeface="Helvetica Neue"/>
              </a:rPr>
              <a:t>Условный SQL</a:t>
            </a:r>
          </a:p>
        </p:txBody>
      </p:sp>
      <p:sp>
        <p:nvSpPr>
          <p:cNvPr id="6" name="alternative">
            <a:extLst xmlns:a="http://schemas.openxmlformats.org/drawingml/2006/main">
              <a:ext uri="{FF2B5EF4-FFF2-40B4-BE49-F238E27FC236}">
                <a16:creationId xmlns:a16="http://schemas.microsoft.com/office/drawing/2014/main" id="{E7448F58-0EBB-439F-B807-A51C7A591C9F}"/>
              </a:ext>
            </a:extLst>
          </p:cNvPr>
          <p:cNvSpPr>
            <a:spLocks xmlns:a="http://schemas.openxmlformats.org/drawingml/2006/main" noGrp="1"/>
          </p:cNvSpPr>
          <p:nvPr/>
        </p:nvSpPr>
        <p:spPr>
          <a:xfrm xmlns:a="http://schemas.openxmlformats.org/drawingml/2006/main">
            <a:off x="6934200" y="2886075"/>
            <a:ext cx="4495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Карточка меняется только</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при завершении выдачи.</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Связь задаёт RETURNING.</a:t>
            </a:r>
          </a:p>
          <a:p xmlns:a="http://schemas.openxmlformats.org/drawingml/2006/main">
            <a:pPr>
              <a:defRPr sz="2175">
                <a:solidFill>
                  <a:srgbClr val="12263A"/>
                </a:solidFill>
                <a:latin typeface="Helvetica Neue"/>
                <a:ea typeface="Helvetica Neue"/>
                <a:cs typeface="Helvetica Neue"/>
              </a:defRPr>
            </a:pPr>
            <a:r>
              <a:rPr sz="2175">
                <a:solidFill>
                  <a:srgbClr val="12263A"/>
                </a:solidFill>
                <a:latin typeface="Helvetica Neue"/>
                <a:ea typeface="Helvetica Neue"/>
                <a:cs typeface="Helvetica Neue"/>
              </a:rPr>
              <a:t>Компактнее, сложнее расширять.</a:t>
            </a:r>
          </a:p>
        </p:txBody>
      </p:sp>
      <p:sp>
        <p:nvSpPr>
          <p:cNvPr id="7" name="choice-reason">
            <a:extLst xmlns:a="http://schemas.openxmlformats.org/drawingml/2006/main">
              <a:ext uri="{FF2B5EF4-FFF2-40B4-BE49-F238E27FC236}">
                <a16:creationId xmlns:a16="http://schemas.microsoft.com/office/drawing/2014/main" id="{039A1CFD-E0A2-4A57-99C0-7EF11CD65F28}"/>
              </a:ext>
            </a:extLst>
          </p:cNvPr>
          <p:cNvSpPr>
            <a:spLocks xmlns:a="http://schemas.openxmlformats.org/drawingml/2006/main" noGrp="1"/>
          </p:cNvSpPr>
          <p:nvPr/>
        </p:nvSpPr>
        <p:spPr>
          <a:xfrm xmlns:a="http://schemas.openxmlformats.org/drawingml/2006/main">
            <a:off x="762000" y="48577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263A"/>
                </a:solidFill>
                <a:latin typeface="Helvetica Neue"/>
                <a:ea typeface="Helvetica Neue"/>
                <a:cs typeface="Helvetica Neue"/>
              </a:defRPr>
            </a:pPr>
            <a:r>
              <a:rPr sz="2325" b="1">
                <a:solidFill>
                  <a:srgbClr val="12263A"/>
                </a:solidFill>
                <a:latin typeface="Helvetica Neue"/>
                <a:ea typeface="Helvetica Neue"/>
                <a:cs typeface="Helvetica Neue"/>
              </a:rPr>
              <a:t>Выбрали явную последовательность:</a:t>
            </a:r>
          </a:p>
          <a:p xmlns:a="http://schemas.openxmlformats.org/drawingml/2006/main">
            <a:pPr>
              <a:defRPr sz="2325" b="1">
                <a:solidFill>
                  <a:srgbClr val="12263A"/>
                </a:solidFill>
                <a:latin typeface="Helvetica Neue"/>
                <a:ea typeface="Helvetica Neue"/>
                <a:cs typeface="Helvetica Neue"/>
              </a:defRPr>
            </a:pPr>
            <a:r>
              <a:rPr sz="2325" b="1">
                <a:solidFill>
                  <a:srgbClr val="12263A"/>
                </a:solidFill>
                <a:latin typeface="Helvetica Neue"/>
                <a:ea typeface="Helvetica Neue"/>
                <a:cs typeface="Helvetica Neue"/>
              </a:rPr>
              <a:t>её проще читать и расширять в Go.</a:t>
            </a:r>
          </a:p>
        </p:txBody>
      </p:sp>
      <p:sp>
        <p:nvSpPr>
          <p:cNvPr id="8" name="limit">
            <a:extLst xmlns:a="http://schemas.openxmlformats.org/drawingml/2006/main">
              <a:ext uri="{FF2B5EF4-FFF2-40B4-BE49-F238E27FC236}">
                <a16:creationId xmlns:a16="http://schemas.microsoft.com/office/drawing/2014/main" id="{7B8A51EB-A82D-436A-ABFE-2F5FEF086038}"/>
              </a:ext>
            </a:extLst>
          </p:cNvPr>
          <p:cNvSpPr>
            <a:spLocks xmlns:a="http://schemas.openxmlformats.org/drawingml/2006/main" noGrp="1"/>
          </p:cNvSpPr>
          <p:nvPr/>
        </p:nvSpPr>
        <p:spPr>
          <a:xfrm xmlns:a="http://schemas.openxmlformats.org/drawingml/2006/main">
            <a:off x="762000" y="5924550"/>
            <a:ext cx="990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556575"/>
                </a:solidFill>
                <a:latin typeface="Helvetica Neue"/>
                <a:ea typeface="Helvetica Neue"/>
                <a:cs typeface="Helvetica Neue"/>
              </a:defRPr>
            </a:pPr>
            <a:r>
              <a:rPr sz="1800">
                <a:solidFill>
                  <a:srgbClr val="556575"/>
                </a:solidFill>
                <a:latin typeface="Helvetica Neue"/>
                <a:ea typeface="Helvetica Neue"/>
                <a:cs typeface="Helvetica Neue"/>
              </a:rPr>
              <a:t>Общий порядок блокировок нужен обоим вариантам.</a:t>
            </a:r>
          </a:p>
          <a:p xmlns:a="http://schemas.openxmlformats.org/drawingml/2006/main">
            <a:pPr>
              <a:defRPr sz="1800">
                <a:solidFill>
                  <a:srgbClr val="556575"/>
                </a:solidFill>
                <a:latin typeface="Helvetica Neue"/>
                <a:ea typeface="Helvetica Neue"/>
                <a:cs typeface="Helvetica Neue"/>
              </a:defRPr>
            </a:pPr>
            <a:r>
              <a:rPr sz="1800">
                <a:solidFill>
                  <a:srgbClr val="556575"/>
                </a:solidFill>
                <a:latin typeface="Helvetica Neue"/>
                <a:ea typeface="Helvetica Neue"/>
                <a:cs typeface="Helvetica Neue"/>
              </a:rPr>
              <a:t>Внешние эффекты требуют отдельного решения.</a:t>
            </a:r>
          </a:p>
        </p:txBody>
      </p:sp>
    </p:spTree>
    <p:extLst>
      <p:ext uri="{BB962C8B-B14F-4D97-AF65-F5344CB8AC3E}">
        <p14:creationId xmlns:p14="http://schemas.microsoft.com/office/powerpoint/2010/main" val="14058973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DFB6B578-086A-4617-80C7-F54031C62A84}"/>
              </a:ext>
            </a:extLst>
          </p:cNvPr>
          <p:cNvSpPr>
            <a:spLocks xmlns:a="http://schemas.openxmlformats.org/drawingml/2006/main" noGrp="1"/>
          </p:cNvSpPr>
          <p:nvPr/>
        </p:nvSpPr>
        <p:spPr>
          <a:xfrm xmlns:a="http://schemas.openxmlformats.org/drawingml/2006/main">
            <a:off x="762000" y="6286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2263A"/>
                </a:solidFill>
                <a:latin typeface="Helvetica Neue"/>
                <a:ea typeface="Helvetica Neue"/>
                <a:cs typeface="Helvetica Neue"/>
              </a:defRPr>
            </a:pPr>
            <a:r>
              <a:rPr sz="3600" b="1">
                <a:solidFill>
                  <a:srgbClr val="12263A"/>
                </a:solidFill>
                <a:latin typeface="Helvetica Neue"/>
                <a:ea typeface="Helvetica Neue"/>
                <a:cs typeface="Helvetica Neue"/>
              </a:rPr>
              <a:t>Будущая проверка SR-05</a:t>
            </a:r>
          </a:p>
        </p:txBody>
      </p:sp>
      <p:sp>
        <p:nvSpPr>
          <p:cNvPr id="2" name="folio">
            <a:extLst xmlns:a="http://schemas.openxmlformats.org/drawingml/2006/main">
              <a:ext uri="{FF2B5EF4-FFF2-40B4-BE49-F238E27FC236}">
                <a16:creationId xmlns:a16="http://schemas.microsoft.com/office/drawing/2014/main" id="{E96C494B-92AE-4703-AF8A-0D55120DAB94}"/>
              </a:ext>
            </a:extLst>
          </p:cNvPr>
          <p:cNvSpPr>
            <a:spLocks xmlns:a="http://schemas.openxmlformats.org/drawingml/2006/main" noGrp="1"/>
          </p:cNvSpPr>
          <p:nvPr/>
        </p:nvSpPr>
        <p:spPr>
          <a:xfrm xmlns:a="http://schemas.openxmlformats.org/drawingml/2006/main">
            <a:off x="10953750" y="6219825"/>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75">
                <a:solidFill>
                  <a:srgbClr val="556575"/>
                </a:solidFill>
                <a:latin typeface="Helvetica Neue"/>
                <a:ea typeface="Helvetica Neue"/>
                <a:cs typeface="Helvetica Neue"/>
              </a:defRPr>
            </a:pPr>
            <a:r>
              <a:rPr sz="1575">
                <a:solidFill>
                  <a:srgbClr val="556575"/>
                </a:solidFill>
                <a:latin typeface="Helvetica Neue"/>
                <a:ea typeface="Helvetica Neue"/>
                <a:cs typeface="Helvetica Neue"/>
              </a:rPr>
              <a:t>6</a:t>
            </a:r>
          </a:p>
        </p:txBody>
      </p:sp>
      <p:sp>
        <p:nvSpPr>
          <p:cNvPr id="3" name="future-status">
            <a:extLst xmlns:a="http://schemas.openxmlformats.org/drawingml/2006/main">
              <a:ext uri="{FF2B5EF4-FFF2-40B4-BE49-F238E27FC236}">
                <a16:creationId xmlns:a16="http://schemas.microsoft.com/office/drawing/2014/main" id="{A03A0975-1DF8-44D0-A9FA-D0AC423DA6ED}"/>
              </a:ext>
            </a:extLst>
          </p:cNvPr>
          <p:cNvSpPr>
            <a:spLocks xmlns:a="http://schemas.openxmlformats.org/drawingml/2006/main" noGrp="1"/>
          </p:cNvSpPr>
          <p:nvPr/>
        </p:nvSpPr>
        <p:spPr>
          <a:xfrm xmlns:a="http://schemas.openxmlformats.org/drawingml/2006/main">
            <a:off x="762000" y="165735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a:solidFill>
                  <a:srgbClr val="556575"/>
                </a:solidFill>
                <a:latin typeface="Helvetica Neue"/>
                <a:ea typeface="Helvetica Neue"/>
                <a:cs typeface="Helvetica Neue"/>
              </a:defRPr>
            </a:pPr>
            <a:r>
              <a:rPr sz="2025">
                <a:solidFill>
                  <a:srgbClr val="556575"/>
                </a:solidFill>
                <a:latin typeface="Helvetica Neue"/>
                <a:ea typeface="Helvetica Neue"/>
                <a:cs typeface="Helvetica Neue"/>
              </a:rPr>
              <a:t>Возврат пока не реализован</a:t>
            </a:r>
          </a:p>
        </p:txBody>
      </p:sp>
      <p:sp>
        <p:nvSpPr>
          <p:cNvPr id="4" name="test-number-1">
            <a:extLst xmlns:a="http://schemas.openxmlformats.org/drawingml/2006/main">
              <a:ext uri="{FF2B5EF4-FFF2-40B4-BE49-F238E27FC236}">
                <a16:creationId xmlns:a16="http://schemas.microsoft.com/office/drawing/2014/main" id="{915796AB-2D0C-4AC4-B974-0CD3DFBA1011}"/>
              </a:ext>
            </a:extLst>
          </p:cNvPr>
          <p:cNvSpPr>
            <a:spLocks xmlns:a="http://schemas.openxmlformats.org/drawingml/2006/main" noGrp="1"/>
          </p:cNvSpPr>
          <p:nvPr/>
        </p:nvSpPr>
        <p:spPr>
          <a:xfrm xmlns:a="http://schemas.openxmlformats.org/drawingml/2006/main">
            <a:off x="762000" y="2438400"/>
            <a:ext cx="57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146D73"/>
                </a:solidFill>
                <a:latin typeface="Helvetica Neue"/>
                <a:ea typeface="Helvetica Neue"/>
                <a:cs typeface="Helvetica Neue"/>
              </a:defRPr>
            </a:pPr>
            <a:r>
              <a:rPr sz="3375" b="1">
                <a:solidFill>
                  <a:srgbClr val="146D73"/>
                </a:solidFill>
                <a:latin typeface="Helvetica Neue"/>
                <a:ea typeface="Helvetica Neue"/>
                <a:cs typeface="Helvetica Neue"/>
              </a:rPr>
              <a:t>1</a:t>
            </a:r>
          </a:p>
        </p:txBody>
      </p:sp>
      <p:sp>
        <p:nvSpPr>
          <p:cNvPr id="5" name="test-title-1">
            <a:extLst xmlns:a="http://schemas.openxmlformats.org/drawingml/2006/main">
              <a:ext uri="{FF2B5EF4-FFF2-40B4-BE49-F238E27FC236}">
                <a16:creationId xmlns:a16="http://schemas.microsoft.com/office/drawing/2014/main" id="{A997A2C1-4DC0-40EB-917B-0346792B7BC2}"/>
              </a:ext>
            </a:extLst>
          </p:cNvPr>
          <p:cNvSpPr>
            <a:spLocks xmlns:a="http://schemas.openxmlformats.org/drawingml/2006/main" noGrp="1"/>
          </p:cNvSpPr>
          <p:nvPr/>
        </p:nvSpPr>
        <p:spPr>
          <a:xfrm xmlns:a="http://schemas.openxmlformats.org/drawingml/2006/main">
            <a:off x="1600200" y="243840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263A"/>
                </a:solidFill>
                <a:latin typeface="Helvetica Neue"/>
                <a:ea typeface="Helvetica Neue"/>
                <a:cs typeface="Helvetica Neue"/>
              </a:defRPr>
            </a:pPr>
            <a:r>
              <a:rPr sz="2325" b="1">
                <a:solidFill>
                  <a:srgbClr val="12263A"/>
                </a:solidFill>
                <a:latin typeface="Helvetica Neue"/>
                <a:ea typeface="Helvetica Neue"/>
                <a:cs typeface="Helvetica Neue"/>
              </a:rPr>
              <a:t>Повтор после ремонта и L2</a:t>
            </a:r>
          </a:p>
        </p:txBody>
      </p:sp>
      <p:sp>
        <p:nvSpPr>
          <p:cNvPr id="6" name="test-result-1">
            <a:extLst xmlns:a="http://schemas.openxmlformats.org/drawingml/2006/main">
              <a:ext uri="{FF2B5EF4-FFF2-40B4-BE49-F238E27FC236}">
                <a16:creationId xmlns:a16="http://schemas.microsoft.com/office/drawing/2014/main" id="{F4F9F433-F32B-4282-8652-5BA32F897C7B}"/>
              </a:ext>
            </a:extLst>
          </p:cNvPr>
          <p:cNvSpPr>
            <a:spLocks xmlns:a="http://schemas.openxmlformats.org/drawingml/2006/main" noGrp="1"/>
          </p:cNvSpPr>
          <p:nvPr/>
        </p:nvSpPr>
        <p:spPr>
          <a:xfrm xmlns:a="http://schemas.openxmlformats.org/drawingml/2006/main">
            <a:off x="1600200" y="294322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12263A"/>
                </a:solidFill>
                <a:latin typeface="Helvetica Neue"/>
                <a:ea typeface="Helvetica Neue"/>
                <a:cs typeface="Helvetica Neue"/>
              </a:defRPr>
            </a:pPr>
            <a:r>
              <a:rPr sz="2100">
                <a:solidFill>
                  <a:srgbClr val="12263A"/>
                </a:solidFill>
                <a:latin typeface="Helvetica Neue"/>
                <a:ea typeface="Helvetica Neue"/>
                <a:cs typeface="Helvetica Neue"/>
              </a:rPr>
              <a:t>409, все три записи без изменений.</a:t>
            </a:r>
          </a:p>
        </p:txBody>
      </p:sp>
      <p:sp>
        <p:nvSpPr>
          <p:cNvPr id="7" name="test-number-2">
            <a:extLst xmlns:a="http://schemas.openxmlformats.org/drawingml/2006/main">
              <a:ext uri="{FF2B5EF4-FFF2-40B4-BE49-F238E27FC236}">
                <a16:creationId xmlns:a16="http://schemas.microsoft.com/office/drawing/2014/main" id="{3850D07D-E5BA-439C-9200-66425E72B0FB}"/>
              </a:ext>
            </a:extLst>
          </p:cNvPr>
          <p:cNvSpPr>
            <a:spLocks xmlns:a="http://schemas.openxmlformats.org/drawingml/2006/main" noGrp="1"/>
          </p:cNvSpPr>
          <p:nvPr/>
        </p:nvSpPr>
        <p:spPr>
          <a:xfrm xmlns:a="http://schemas.openxmlformats.org/drawingml/2006/main">
            <a:off x="762000" y="3676650"/>
            <a:ext cx="57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146D73"/>
                </a:solidFill>
                <a:latin typeface="Helvetica Neue"/>
                <a:ea typeface="Helvetica Neue"/>
                <a:cs typeface="Helvetica Neue"/>
              </a:defRPr>
            </a:pPr>
            <a:r>
              <a:rPr sz="3375" b="1">
                <a:solidFill>
                  <a:srgbClr val="146D73"/>
                </a:solidFill>
                <a:latin typeface="Helvetica Neue"/>
                <a:ea typeface="Helvetica Neue"/>
                <a:cs typeface="Helvetica Neue"/>
              </a:rPr>
              <a:t>2</a:t>
            </a:r>
          </a:p>
        </p:txBody>
      </p:sp>
      <p:sp>
        <p:nvSpPr>
          <p:cNvPr id="8" name="test-title-2">
            <a:extLst xmlns:a="http://schemas.openxmlformats.org/drawingml/2006/main">
              <a:ext uri="{FF2B5EF4-FFF2-40B4-BE49-F238E27FC236}">
                <a16:creationId xmlns:a16="http://schemas.microsoft.com/office/drawing/2014/main" id="{09D52638-CADC-46F1-903E-468E025325C2}"/>
              </a:ext>
            </a:extLst>
          </p:cNvPr>
          <p:cNvSpPr>
            <a:spLocks xmlns:a="http://schemas.openxmlformats.org/drawingml/2006/main" noGrp="1"/>
          </p:cNvSpPr>
          <p:nvPr/>
        </p:nvSpPr>
        <p:spPr>
          <a:xfrm xmlns:a="http://schemas.openxmlformats.org/drawingml/2006/main">
            <a:off x="1600200" y="367665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263A"/>
                </a:solidFill>
                <a:latin typeface="Helvetica Neue"/>
                <a:ea typeface="Helvetica Neue"/>
                <a:cs typeface="Helvetica Neue"/>
              </a:defRPr>
            </a:pPr>
            <a:r>
              <a:rPr sz="2325" b="1">
                <a:solidFill>
                  <a:srgbClr val="12263A"/>
                </a:solidFill>
                <a:latin typeface="Helvetica Neue"/>
                <a:ea typeface="Helvetica Neue"/>
                <a:cs typeface="Helvetica Neue"/>
              </a:rPr>
              <a:t>Сбой между записями</a:t>
            </a:r>
          </a:p>
        </p:txBody>
      </p:sp>
      <p:sp>
        <p:nvSpPr>
          <p:cNvPr id="9" name="test-result-2">
            <a:extLst xmlns:a="http://schemas.openxmlformats.org/drawingml/2006/main">
              <a:ext uri="{FF2B5EF4-FFF2-40B4-BE49-F238E27FC236}">
                <a16:creationId xmlns:a16="http://schemas.microsoft.com/office/drawing/2014/main" id="{57FA4A50-0954-4706-BBCF-4E93534227B3}"/>
              </a:ext>
            </a:extLst>
          </p:cNvPr>
          <p:cNvSpPr>
            <a:spLocks xmlns:a="http://schemas.openxmlformats.org/drawingml/2006/main" noGrp="1"/>
          </p:cNvSpPr>
          <p:nvPr/>
        </p:nvSpPr>
        <p:spPr>
          <a:xfrm xmlns:a="http://schemas.openxmlformats.org/drawingml/2006/main">
            <a:off x="1600200" y="418147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12263A"/>
                </a:solidFill>
                <a:latin typeface="Helvetica Neue"/>
                <a:ea typeface="Helvetica Neue"/>
                <a:cs typeface="Helvetica Neue"/>
              </a:defRPr>
            </a:pPr>
            <a:r>
              <a:rPr sz="2100">
                <a:solidFill>
                  <a:srgbClr val="12263A"/>
                </a:solidFill>
                <a:latin typeface="Helvetica Neue"/>
                <a:ea typeface="Helvetica Neue"/>
                <a:cs typeface="Helvetica Neue"/>
              </a:rPr>
              <a:t>Откат выдачи и карточки.</a:t>
            </a:r>
          </a:p>
        </p:txBody>
      </p:sp>
      <p:sp>
        <p:nvSpPr>
          <p:cNvPr id="10" name="test-number-3">
            <a:extLst xmlns:a="http://schemas.openxmlformats.org/drawingml/2006/main">
              <a:ext uri="{FF2B5EF4-FFF2-40B4-BE49-F238E27FC236}">
                <a16:creationId xmlns:a16="http://schemas.microsoft.com/office/drawing/2014/main" id="{C77C706B-6A53-4312-9248-9E144AA86566}"/>
              </a:ext>
            </a:extLst>
          </p:cNvPr>
          <p:cNvSpPr>
            <a:spLocks xmlns:a="http://schemas.openxmlformats.org/drawingml/2006/main" noGrp="1"/>
          </p:cNvSpPr>
          <p:nvPr/>
        </p:nvSpPr>
        <p:spPr>
          <a:xfrm xmlns:a="http://schemas.openxmlformats.org/drawingml/2006/main">
            <a:off x="762000" y="4914900"/>
            <a:ext cx="57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146D73"/>
                </a:solidFill>
                <a:latin typeface="Helvetica Neue"/>
                <a:ea typeface="Helvetica Neue"/>
                <a:cs typeface="Helvetica Neue"/>
              </a:defRPr>
            </a:pPr>
            <a:r>
              <a:rPr sz="3375" b="1">
                <a:solidFill>
                  <a:srgbClr val="146D73"/>
                </a:solidFill>
                <a:latin typeface="Helvetica Neue"/>
                <a:ea typeface="Helvetica Neue"/>
                <a:cs typeface="Helvetica Neue"/>
              </a:rPr>
              <a:t>3</a:t>
            </a:r>
          </a:p>
        </p:txBody>
      </p:sp>
      <p:sp>
        <p:nvSpPr>
          <p:cNvPr id="11" name="test-title-3">
            <a:extLst xmlns:a="http://schemas.openxmlformats.org/drawingml/2006/main">
              <a:ext uri="{FF2B5EF4-FFF2-40B4-BE49-F238E27FC236}">
                <a16:creationId xmlns:a16="http://schemas.microsoft.com/office/drawing/2014/main" id="{4F725F77-6EC5-44CE-836C-E58C74DA7B4A}"/>
              </a:ext>
            </a:extLst>
          </p:cNvPr>
          <p:cNvSpPr>
            <a:spLocks xmlns:a="http://schemas.openxmlformats.org/drawingml/2006/main" noGrp="1"/>
          </p:cNvSpPr>
          <p:nvPr/>
        </p:nvSpPr>
        <p:spPr>
          <a:xfrm xmlns:a="http://schemas.openxmlformats.org/drawingml/2006/main">
            <a:off x="1600200" y="4914900"/>
            <a:ext cx="9829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2263A"/>
                </a:solidFill>
                <a:latin typeface="Helvetica Neue"/>
                <a:ea typeface="Helvetica Neue"/>
                <a:cs typeface="Helvetica Neue"/>
              </a:defRPr>
            </a:pPr>
            <a:r>
              <a:rPr sz="2325" b="1">
                <a:solidFill>
                  <a:srgbClr val="12263A"/>
                </a:solidFill>
                <a:latin typeface="Helvetica Neue"/>
                <a:ea typeface="Helvetica Neue"/>
                <a:cs typeface="Helvetica Neue"/>
              </a:rPr>
              <a:t>Два одновременных возврата</a:t>
            </a:r>
          </a:p>
        </p:txBody>
      </p:sp>
      <p:sp>
        <p:nvSpPr>
          <p:cNvPr id="12" name="test-result-3">
            <a:extLst xmlns:a="http://schemas.openxmlformats.org/drawingml/2006/main">
              <a:ext uri="{FF2B5EF4-FFF2-40B4-BE49-F238E27FC236}">
                <a16:creationId xmlns:a16="http://schemas.microsoft.com/office/drawing/2014/main" id="{B88B38CE-182A-4384-84DF-0D5221D18A31}"/>
              </a:ext>
            </a:extLst>
          </p:cNvPr>
          <p:cNvSpPr>
            <a:spLocks xmlns:a="http://schemas.openxmlformats.org/drawingml/2006/main" noGrp="1"/>
          </p:cNvSpPr>
          <p:nvPr/>
        </p:nvSpPr>
        <p:spPr>
          <a:xfrm xmlns:a="http://schemas.openxmlformats.org/drawingml/2006/main">
            <a:off x="1600200" y="5419725"/>
            <a:ext cx="9829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a:solidFill>
                  <a:srgbClr val="12263A"/>
                </a:solidFill>
                <a:latin typeface="Helvetica Neue"/>
                <a:ea typeface="Helvetica Neue"/>
                <a:cs typeface="Helvetica Neue"/>
              </a:defRPr>
            </a:pPr>
            <a:r>
              <a:rPr sz="2100">
                <a:solidFill>
                  <a:srgbClr val="12263A"/>
                </a:solidFill>
                <a:latin typeface="Helvetica Neue"/>
                <a:ea typeface="Helvetica Neue"/>
                <a:cs typeface="Helvetica Neue"/>
              </a:rPr>
              <a:t>Только один меняет состояние.</a:t>
            </a:r>
          </a:p>
        </p:txBody>
      </p:sp>
      <p:sp>
        <p:nvSpPr>
          <p:cNvPr id="13" name="guarantee">
            <a:extLst xmlns:a="http://schemas.openxmlformats.org/drawingml/2006/main">
              <a:ext uri="{FF2B5EF4-FFF2-40B4-BE49-F238E27FC236}">
                <a16:creationId xmlns:a16="http://schemas.microsoft.com/office/drawing/2014/main" id="{BEAC5035-77D5-4FB1-A2E7-5C73C648E9BD}"/>
              </a:ext>
            </a:extLst>
          </p:cNvPr>
          <p:cNvSpPr>
            <a:spLocks xmlns:a="http://schemas.openxmlformats.org/drawingml/2006/main" noGrp="1"/>
          </p:cNvSpPr>
          <p:nvPr/>
        </p:nvSpPr>
        <p:spPr>
          <a:xfrm xmlns:a="http://schemas.openxmlformats.org/drawingml/2006/main">
            <a:off x="762000" y="617220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556575"/>
                </a:solidFill>
                <a:latin typeface="Helvetica Neue"/>
                <a:ea typeface="Helvetica Neue"/>
                <a:cs typeface="Helvetica Neue"/>
              </a:defRPr>
            </a:pPr>
            <a:r>
              <a:rPr sz="1800">
                <a:solidFill>
                  <a:srgbClr val="556575"/>
                </a:solidFill>
                <a:latin typeface="Helvetica Neue"/>
                <a:ea typeface="Helvetica Neue"/>
                <a:cs typeface="Helvetica Neue"/>
              </a:rPr>
              <a:t>Граница гарантии: согласованность внутри PostgreSQL.</a:t>
            </a:r>
          </a:p>
        </p:txBody>
      </p:sp>
    </p:spTree>
    <p:extLst>
      <p:ext uri="{BB962C8B-B14F-4D97-AF65-F5344CB8AC3E}">
        <p14:creationId xmlns:p14="http://schemas.microsoft.com/office/powerpoint/2010/main" val="19559908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2026-10-05T07:42:30.0750000Z</dcterms:created>
  <dcterms:modified xsi:type="dcterms:W3CDTF">2026-10-05T07:42:30.0750000Z</dcterms:modified>
</coreProperties>
</file>